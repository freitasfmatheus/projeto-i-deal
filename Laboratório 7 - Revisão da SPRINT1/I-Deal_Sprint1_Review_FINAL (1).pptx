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1914" y="7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160BBE-7864-4FF5-86BD-E90275C7E3D6}" type="datetimeFigureOut">
              <a:rPr lang="pt-BR" smtClean="0"/>
              <a:t>21/03/2026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5259FF-39D8-42C6-805F-B1A63C2E54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1198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5259FF-39D8-42C6-805F-B1A63C2E5419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01220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7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Oval 2"/>
          <p:cNvSpPr/>
          <p:nvPr/>
        </p:nvSpPr>
        <p:spPr>
          <a:xfrm>
            <a:off x="8138159" y="182880"/>
            <a:ext cx="548640" cy="548640"/>
          </a:xfrm>
          <a:prstGeom prst="ellipse">
            <a:avLst/>
          </a:prstGeom>
          <a:solidFill>
            <a:srgbClr val="2E4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Oval 3"/>
          <p:cNvSpPr/>
          <p:nvPr/>
        </p:nvSpPr>
        <p:spPr>
          <a:xfrm>
            <a:off x="8663940" y="662940"/>
            <a:ext cx="320040" cy="320040"/>
          </a:xfrm>
          <a:prstGeom prst="ellipse">
            <a:avLst/>
          </a:prstGeom>
          <a:solidFill>
            <a:srgbClr val="2E4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" name="Oval 4"/>
          <p:cNvSpPr/>
          <p:nvPr/>
        </p:nvSpPr>
        <p:spPr>
          <a:xfrm>
            <a:off x="7863840" y="822960"/>
            <a:ext cx="182880" cy="182880"/>
          </a:xfrm>
          <a:prstGeom prst="ellipse">
            <a:avLst/>
          </a:prstGeom>
          <a:solidFill>
            <a:srgbClr val="2E4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2286000" y="5029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400" b="1" i="0" noProof="0" dirty="0">
                <a:solidFill>
                  <a:srgbClr val="4A7C3F"/>
                </a:solidFill>
                <a:latin typeface="Calibri"/>
              </a:rPr>
              <a:t>* SPRINT 1 REVIEW *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28016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5200" b="1" i="0" noProof="0" dirty="0">
                <a:solidFill>
                  <a:srgbClr val="FFFFFF"/>
                </a:solidFill>
                <a:latin typeface="Georgia"/>
              </a:rPr>
              <a:t>I-DEAL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2176272"/>
            <a:ext cx="2743200" cy="9144"/>
          </a:xfrm>
          <a:prstGeom prst="rect">
            <a:avLst/>
          </a:prstGeom>
          <a:solidFill>
            <a:srgbClr val="4A7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2011680" y="228600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0" i="0" noProof="0" dirty="0">
                <a:solidFill>
                  <a:srgbClr val="B0C4DE"/>
                </a:solidFill>
                <a:latin typeface="Georgia"/>
              </a:rPr>
              <a:t>Sprint 1 Review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2926080"/>
            <a:ext cx="2743200" cy="320040"/>
          </a:xfrm>
          <a:prstGeom prst="rect">
            <a:avLst/>
          </a:prstGeom>
          <a:solidFill>
            <a:srgbClr val="2E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3200400" y="2944368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000" b="0" i="0" noProof="0" dirty="0">
                <a:solidFill>
                  <a:srgbClr val="B0C4DE"/>
                </a:solidFill>
                <a:latin typeface="Calibri"/>
              </a:rPr>
              <a:t>CC7540  ·  Laboratório Noturno – Turma 760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29000"/>
            <a:ext cx="7315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b="0" i="0" noProof="0" dirty="0">
                <a:solidFill>
                  <a:srgbClr val="CCCCCC"/>
                </a:solidFill>
                <a:latin typeface="Calibri"/>
              </a:rPr>
              <a:t>Gustavo Cardoso   ·   Isabella Rosseto   ·   Henrique </a:t>
            </a:r>
            <a:r>
              <a:rPr lang="pt-BR" sz="1200" b="0" i="0" noProof="0" dirty="0" err="1">
                <a:solidFill>
                  <a:srgbClr val="CCCCCC"/>
                </a:solidFill>
                <a:latin typeface="Calibri"/>
              </a:rPr>
              <a:t>Babler</a:t>
            </a:r>
            <a:r>
              <a:rPr lang="pt-BR" sz="1200" b="0" i="0" noProof="0" dirty="0">
                <a:solidFill>
                  <a:srgbClr val="CCCCCC"/>
                </a:solidFill>
                <a:latin typeface="Calibri"/>
              </a:rPr>
              <a:t>   ·   Matheus Freitas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7947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b="0" i="0" noProof="0" dirty="0">
                <a:solidFill>
                  <a:srgbClr val="888888"/>
                </a:solidFill>
                <a:latin typeface="Calibri"/>
              </a:rPr>
              <a:t>PO: Isabella Rossetto   ·   Scrum Master: Matheus Freitas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1605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000" b="0" i="0" noProof="0" dirty="0">
                <a:solidFill>
                  <a:srgbClr val="888888"/>
                </a:solidFill>
                <a:latin typeface="Calibri"/>
              </a:rPr>
              <a:t>Março 2026  ·  Centro Universitário FEI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2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274320" y="4910328"/>
            <a:ext cx="8595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900" b="0" i="0" noProof="0" dirty="0">
                <a:solidFill>
                  <a:srgbClr val="888888"/>
                </a:solidFill>
                <a:latin typeface="Calibri"/>
              </a:rPr>
              <a:t>github.com/</a:t>
            </a:r>
            <a:r>
              <a:rPr lang="pt-BR" sz="900" b="0" i="0" noProof="0" dirty="0" err="1">
                <a:solidFill>
                  <a:srgbClr val="888888"/>
                </a:solidFill>
                <a:latin typeface="Calibri"/>
              </a:rPr>
              <a:t>FreitasFMatheus</a:t>
            </a:r>
            <a:r>
              <a:rPr lang="pt-BR" sz="900" b="0" i="0" noProof="0" dirty="0">
                <a:solidFill>
                  <a:srgbClr val="888888"/>
                </a:solidFill>
                <a:latin typeface="Calibri"/>
              </a:rPr>
              <a:t>/Projeto-I-</a:t>
            </a:r>
            <a:r>
              <a:rPr lang="pt-BR" sz="900" b="0" i="0" noProof="0" dirty="0" err="1">
                <a:solidFill>
                  <a:srgbClr val="888888"/>
                </a:solidFill>
                <a:latin typeface="Calibri"/>
              </a:rPr>
              <a:t>Deal</a:t>
            </a:r>
            <a:endParaRPr lang="pt-BR" sz="900" b="0" i="0" noProof="0" dirty="0">
              <a:solidFill>
                <a:srgbClr val="88888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8321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3600" b="1" i="0" noProof="0" dirty="0">
                <a:solidFill>
                  <a:srgbClr val="1C2B5E"/>
                </a:solidFill>
                <a:latin typeface="Georgia"/>
              </a:rPr>
              <a:t>Tópicos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41248"/>
            <a:ext cx="8321040" cy="9144"/>
          </a:xfrm>
          <a:prstGeom prst="rect">
            <a:avLst/>
          </a:prstGeom>
          <a:solidFill>
            <a:srgbClr val="2E4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Oval 3"/>
          <p:cNvSpPr/>
          <p:nvPr/>
        </p:nvSpPr>
        <p:spPr>
          <a:xfrm>
            <a:off x="320040" y="1033272"/>
            <a:ext cx="457200" cy="457200"/>
          </a:xfrm>
          <a:prstGeom prst="ellipse">
            <a:avLst/>
          </a:prstGeom>
          <a:solidFill>
            <a:srgbClr val="1C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329184" y="1097280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300" b="1" i="0" noProof="0" dirty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104241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500" b="1" i="0" noProof="0" dirty="0">
                <a:solidFill>
                  <a:srgbClr val="1C2B5E"/>
                </a:solidFill>
                <a:latin typeface="Calibri"/>
              </a:rPr>
              <a:t>Contextualização do Projeto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33502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100" b="0" i="0" noProof="0" dirty="0">
                <a:solidFill>
                  <a:srgbClr val="333333"/>
                </a:solidFill>
                <a:latin typeface="Calibri"/>
              </a:rPr>
              <a:t>Backlog do Produto e visão geral do sistema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664208"/>
            <a:ext cx="3657600" cy="914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9" name="Oval 8"/>
          <p:cNvSpPr/>
          <p:nvPr/>
        </p:nvSpPr>
        <p:spPr>
          <a:xfrm>
            <a:off x="320040" y="2267712"/>
            <a:ext cx="457200" cy="457200"/>
          </a:xfrm>
          <a:prstGeom prst="ellipse">
            <a:avLst/>
          </a:prstGeom>
          <a:solidFill>
            <a:srgbClr val="1C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329184" y="2331720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300" b="1" i="0" noProof="0" dirty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27685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500" b="1" i="0" noProof="0" dirty="0">
                <a:solidFill>
                  <a:srgbClr val="1C2B5E"/>
                </a:solidFill>
                <a:latin typeface="Calibri"/>
              </a:rPr>
              <a:t>Sprint Backlog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56946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100" b="0" i="0" noProof="0" dirty="0">
                <a:solidFill>
                  <a:srgbClr val="333333"/>
                </a:solidFill>
                <a:latin typeface="Calibri"/>
              </a:rPr>
              <a:t>Itens selecionados e objetivo da Sprint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898648"/>
            <a:ext cx="3657600" cy="914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4" name="Oval 13"/>
          <p:cNvSpPr/>
          <p:nvPr/>
        </p:nvSpPr>
        <p:spPr>
          <a:xfrm>
            <a:off x="320040" y="3502152"/>
            <a:ext cx="457200" cy="457200"/>
          </a:xfrm>
          <a:prstGeom prst="ellipse">
            <a:avLst/>
          </a:prstGeom>
          <a:solidFill>
            <a:srgbClr val="1C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329184" y="3566160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300" b="1" i="0" noProof="0" dirty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351129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500" b="1" i="0" noProof="0" dirty="0" err="1">
                <a:solidFill>
                  <a:srgbClr val="1C2B5E"/>
                </a:solidFill>
                <a:latin typeface="Calibri"/>
              </a:rPr>
              <a:t>Kanban</a:t>
            </a:r>
            <a:r>
              <a:rPr lang="pt-BR" sz="1500" b="1" i="0" noProof="0" dirty="0">
                <a:solidFill>
                  <a:srgbClr val="1C2B5E"/>
                </a:solidFill>
                <a:latin typeface="Calibri"/>
              </a:rPr>
              <a:t> da Sprint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380390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100" b="0" i="0" noProof="0" dirty="0">
                <a:solidFill>
                  <a:srgbClr val="333333"/>
                </a:solidFill>
                <a:latin typeface="Calibri"/>
              </a:rPr>
              <a:t>Fluxo de trabalho no </a:t>
            </a:r>
            <a:r>
              <a:rPr lang="pt-BR" sz="1100" b="0" i="0" noProof="0" dirty="0" err="1">
                <a:solidFill>
                  <a:srgbClr val="333333"/>
                </a:solidFill>
                <a:latin typeface="Calibri"/>
              </a:rPr>
              <a:t>Trello</a:t>
            </a:r>
            <a:endParaRPr lang="pt-BR" sz="1100" b="0" i="0" noProof="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31520" y="4133088"/>
            <a:ext cx="3657600" cy="914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9" name="Oval 18"/>
          <p:cNvSpPr/>
          <p:nvPr/>
        </p:nvSpPr>
        <p:spPr>
          <a:xfrm>
            <a:off x="4709159" y="1033272"/>
            <a:ext cx="457200" cy="457200"/>
          </a:xfrm>
          <a:prstGeom prst="ellipse">
            <a:avLst/>
          </a:prstGeom>
          <a:solidFill>
            <a:srgbClr val="1C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0" name="TextBox 19"/>
          <p:cNvSpPr txBox="1"/>
          <p:nvPr/>
        </p:nvSpPr>
        <p:spPr>
          <a:xfrm>
            <a:off x="4718303" y="1097280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300" b="1" i="0" noProof="0" dirty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79" y="104241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500" b="1" i="0" noProof="0" dirty="0">
                <a:solidFill>
                  <a:srgbClr val="1C2B5E"/>
                </a:solidFill>
                <a:latin typeface="Calibri"/>
              </a:rPr>
              <a:t>Evidência de Execução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79" y="133502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100" b="0" i="0" noProof="0" dirty="0">
                <a:solidFill>
                  <a:srgbClr val="333333"/>
                </a:solidFill>
                <a:latin typeface="Calibri"/>
              </a:rPr>
              <a:t>3 prints do </a:t>
            </a:r>
            <a:r>
              <a:rPr lang="pt-BR" sz="1100" b="0" i="0" noProof="0" dirty="0" err="1">
                <a:solidFill>
                  <a:srgbClr val="333333"/>
                </a:solidFill>
                <a:latin typeface="Calibri"/>
              </a:rPr>
              <a:t>Kanban</a:t>
            </a:r>
            <a:r>
              <a:rPr lang="pt-BR" sz="1100" b="0" i="0" noProof="0" dirty="0">
                <a:solidFill>
                  <a:srgbClr val="333333"/>
                </a:solidFill>
                <a:latin typeface="Calibri"/>
              </a:rPr>
              <a:t> em momentos distintos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0640" y="1664208"/>
            <a:ext cx="3657600" cy="914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4" name="Oval 23"/>
          <p:cNvSpPr/>
          <p:nvPr/>
        </p:nvSpPr>
        <p:spPr>
          <a:xfrm>
            <a:off x="4709159" y="2267712"/>
            <a:ext cx="457200" cy="457200"/>
          </a:xfrm>
          <a:prstGeom prst="ellipse">
            <a:avLst/>
          </a:prstGeom>
          <a:solidFill>
            <a:srgbClr val="1C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5" name="TextBox 24"/>
          <p:cNvSpPr txBox="1"/>
          <p:nvPr/>
        </p:nvSpPr>
        <p:spPr>
          <a:xfrm>
            <a:off x="4718303" y="2331720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300" b="1" i="0" noProof="0" dirty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79" y="227685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500" b="1" i="0" noProof="0" dirty="0">
                <a:solidFill>
                  <a:srgbClr val="1C2B5E"/>
                </a:solidFill>
                <a:latin typeface="Calibri"/>
              </a:rPr>
              <a:t>Entrega da Sprint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9" y="256946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100" b="0" i="0" noProof="0" dirty="0">
                <a:solidFill>
                  <a:srgbClr val="333333"/>
                </a:solidFill>
                <a:latin typeface="Calibri"/>
              </a:rPr>
              <a:t>Demonstração e validação pelo PO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120640" y="2898648"/>
            <a:ext cx="3657600" cy="914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9" name="Oval 28"/>
          <p:cNvSpPr/>
          <p:nvPr/>
        </p:nvSpPr>
        <p:spPr>
          <a:xfrm>
            <a:off x="4709159" y="3502152"/>
            <a:ext cx="457200" cy="457200"/>
          </a:xfrm>
          <a:prstGeom prst="ellipse">
            <a:avLst/>
          </a:prstGeom>
          <a:solidFill>
            <a:srgbClr val="1C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0" name="TextBox 29"/>
          <p:cNvSpPr txBox="1"/>
          <p:nvPr/>
        </p:nvSpPr>
        <p:spPr>
          <a:xfrm>
            <a:off x="4718303" y="3566160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300" b="1" i="0" noProof="0" dirty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79" y="351129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500" b="1" i="0" noProof="0" dirty="0">
                <a:solidFill>
                  <a:srgbClr val="1C2B5E"/>
                </a:solidFill>
                <a:latin typeface="Calibri"/>
              </a:rPr>
              <a:t>Retrospectiva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380390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100" b="0" i="0" noProof="0" dirty="0">
                <a:solidFill>
                  <a:srgbClr val="333333"/>
                </a:solidFill>
                <a:latin typeface="Calibri"/>
              </a:rPr>
              <a:t>O que funcionou, o que melhorar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20640" y="4133088"/>
            <a:ext cx="3657600" cy="914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4" name="Rectangle 33"/>
          <p:cNvSpPr/>
          <p:nvPr/>
        </p:nvSpPr>
        <p:spPr>
          <a:xfrm>
            <a:off x="4572000" y="914400"/>
            <a:ext cx="9144" cy="39319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5" name="Rectangle 3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C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6" name="TextBox 35"/>
          <p:cNvSpPr txBox="1"/>
          <p:nvPr/>
        </p:nvSpPr>
        <p:spPr>
          <a:xfrm>
            <a:off x="274320" y="4901184"/>
            <a:ext cx="6858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00" b="0" i="0" noProof="0" dirty="0" err="1">
                <a:solidFill>
                  <a:srgbClr val="FFFFFF"/>
                </a:solidFill>
                <a:latin typeface="Calibri"/>
              </a:rPr>
              <a:t>I-Deal</a:t>
            </a:r>
            <a:r>
              <a:rPr lang="pt-BR" sz="900" b="0" i="0" noProof="0" dirty="0">
                <a:solidFill>
                  <a:srgbClr val="FFFFFF"/>
                </a:solidFill>
                <a:latin typeface="Calibri"/>
              </a:rPr>
              <a:t>  ·  Sprint 1 Review  ·  CC7540 – Laboratório Noturno 760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4901184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sz="900" b="0" i="0" noProof="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37160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800" b="1" i="0" noProof="0" dirty="0">
                <a:solidFill>
                  <a:srgbClr val="1C2B5E"/>
                </a:solidFill>
                <a:latin typeface="Georgia"/>
              </a:rPr>
              <a:t>01 · Contextualização do Projeto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58368"/>
            <a:ext cx="8321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600" b="0" i="0" noProof="0" dirty="0">
                <a:solidFill>
                  <a:srgbClr val="333333"/>
                </a:solidFill>
                <a:latin typeface="Calibri"/>
              </a:rPr>
              <a:t>O que é o </a:t>
            </a:r>
            <a:r>
              <a:rPr lang="pt-BR" sz="1600" b="0" i="0" noProof="0" dirty="0" err="1">
                <a:solidFill>
                  <a:srgbClr val="333333"/>
                </a:solidFill>
                <a:latin typeface="Calibri"/>
              </a:rPr>
              <a:t>I-Deal</a:t>
            </a:r>
            <a:r>
              <a:rPr lang="pt-BR" sz="1600" b="0" i="0" noProof="0" dirty="0">
                <a:solidFill>
                  <a:srgbClr val="333333"/>
                </a:solidFill>
                <a:latin typeface="Calibri"/>
              </a:rPr>
              <a:t>?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24128"/>
            <a:ext cx="8321040" cy="9144"/>
          </a:xfrm>
          <a:prstGeom prst="rect">
            <a:avLst/>
          </a:prstGeom>
          <a:solidFill>
            <a:srgbClr val="2E4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40233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2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120700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400" b="1" i="0" noProof="0" dirty="0">
                <a:solidFill>
                  <a:srgbClr val="C26B4F"/>
                </a:solidFill>
                <a:latin typeface="Calibri"/>
              </a:rPr>
              <a:t>O PROBLEMA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81912"/>
            <a:ext cx="3566160" cy="914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100" b="0" i="0" noProof="0" dirty="0">
                <a:solidFill>
                  <a:srgbClr val="333333"/>
                </a:solidFill>
                <a:latin typeface="Calibri"/>
              </a:rPr>
              <a:t>-  Gamers precisam navegar manualmente por múltiplas plataformas (</a:t>
            </a:r>
            <a:r>
              <a:rPr lang="pt-BR" sz="1100" b="0" i="0" noProof="0" dirty="0" err="1">
                <a:solidFill>
                  <a:srgbClr val="333333"/>
                </a:solidFill>
                <a:latin typeface="Calibri"/>
              </a:rPr>
              <a:t>Steam</a:t>
            </a:r>
            <a:r>
              <a:rPr lang="pt-BR" sz="1100" b="0" i="0" noProof="0" dirty="0">
                <a:solidFill>
                  <a:srgbClr val="333333"/>
                </a:solidFill>
                <a:latin typeface="Calibri"/>
              </a:rPr>
              <a:t>, Epic Games, </a:t>
            </a:r>
            <a:r>
              <a:rPr lang="pt-BR" sz="1100" b="0" i="0" noProof="0" dirty="0" err="1">
                <a:solidFill>
                  <a:srgbClr val="333333"/>
                </a:solidFill>
                <a:latin typeface="Calibri"/>
              </a:rPr>
              <a:t>Nuuvem</a:t>
            </a:r>
            <a:r>
              <a:rPr lang="pt-BR" sz="1100" b="0" i="0" noProof="0" dirty="0">
                <a:solidFill>
                  <a:srgbClr val="333333"/>
                </a:solidFill>
                <a:latin typeface="Calibri"/>
              </a:rPr>
              <a:t>, GOG) para encontrar o melhor preço.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1460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100" b="0" i="0" noProof="0" dirty="0">
                <a:solidFill>
                  <a:srgbClr val="333333"/>
                </a:solidFill>
                <a:latin typeface="Calibri"/>
              </a:rPr>
              <a:t>-  Promoções relâmpago são perdidas por falta de monitoramento centralizado.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3756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100" b="0" i="0" noProof="0" dirty="0">
                <a:solidFill>
                  <a:srgbClr val="333333"/>
                </a:solidFill>
                <a:latin typeface="Calibri"/>
              </a:rPr>
              <a:t>-  "Falsas promoções" – preços inflados antes de desconto – enganam compradores sem histórico de variação.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26280" y="1097280"/>
            <a:ext cx="42976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4A7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4681728" y="120700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400" b="1" i="0" noProof="0" dirty="0">
                <a:solidFill>
                  <a:srgbClr val="4A7C3F"/>
                </a:solidFill>
                <a:latin typeface="Calibri"/>
              </a:rPr>
              <a:t>A SOLUCAO: I-DEAL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81728" y="1581912"/>
            <a:ext cx="3931920" cy="914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4681728" y="16916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200" b="1" i="0" noProof="0" dirty="0">
                <a:solidFill>
                  <a:srgbClr val="1C2B5E"/>
                </a:solidFill>
                <a:latin typeface="Calibri"/>
              </a:rPr>
              <a:t>[Busca]  Busca Unificada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8" y="196596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100" b="0" i="0" noProof="0" dirty="0">
                <a:solidFill>
                  <a:srgbClr val="333333"/>
                </a:solidFill>
                <a:latin typeface="Calibri"/>
              </a:rPr>
              <a:t>Preços de múltiplas lojas em uma única interface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244144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200" b="1" i="0" noProof="0" dirty="0" err="1">
                <a:solidFill>
                  <a:srgbClr val="1C2B5E"/>
                </a:solidFill>
                <a:latin typeface="Calibri"/>
              </a:rPr>
              <a:t>Historico</a:t>
            </a:r>
            <a:r>
              <a:rPr lang="pt-BR" sz="1200" b="1" i="0" noProof="0" dirty="0">
                <a:solidFill>
                  <a:srgbClr val="1C2B5E"/>
                </a:solidFill>
                <a:latin typeface="Calibri"/>
              </a:rPr>
              <a:t>:  Histórico de Preços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1728" y="271576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100" b="0" i="0" noProof="0" dirty="0">
                <a:solidFill>
                  <a:srgbClr val="333333"/>
                </a:solidFill>
                <a:latin typeface="Calibri"/>
              </a:rPr>
              <a:t>Tabela com variação ao longo do tempo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1728" y="3191256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200" b="1" i="0" noProof="0" dirty="0">
                <a:solidFill>
                  <a:srgbClr val="1C2B5E"/>
                </a:solidFill>
                <a:latin typeface="Calibri"/>
              </a:rPr>
              <a:t>Alertas:  Alertas de Preço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1728" y="3465576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100" b="0" i="0" noProof="0" dirty="0">
                <a:solidFill>
                  <a:srgbClr val="333333"/>
                </a:solidFill>
                <a:latin typeface="Calibri"/>
              </a:rPr>
              <a:t>Notificações quando o preço-alvo é atingido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1728" y="3941064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200" b="1" i="0" noProof="0" dirty="0">
                <a:solidFill>
                  <a:srgbClr val="1C2B5E"/>
                </a:solidFill>
                <a:latin typeface="Calibri"/>
              </a:rPr>
              <a:t>Link:  Redirecionamento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81728" y="4215383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100" b="0" i="0" noProof="0" dirty="0">
                <a:solidFill>
                  <a:srgbClr val="333333"/>
                </a:solidFill>
                <a:latin typeface="Calibri"/>
              </a:rPr>
              <a:t>Links diretos para a loja com melhor oferta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572000"/>
            <a:ext cx="8595360" cy="256032"/>
          </a:xfrm>
          <a:prstGeom prst="rect">
            <a:avLst/>
          </a:prstGeom>
          <a:solidFill>
            <a:srgbClr val="1C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3" name="TextBox 22"/>
          <p:cNvSpPr txBox="1"/>
          <p:nvPr/>
        </p:nvSpPr>
        <p:spPr>
          <a:xfrm>
            <a:off x="365760" y="4590288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000" b="0" i="0" noProof="0" dirty="0">
                <a:solidFill>
                  <a:srgbClr val="FFFFFF"/>
                </a:solidFill>
                <a:latin typeface="Calibri"/>
              </a:rPr>
              <a:t>Stack: Python · </a:t>
            </a:r>
            <a:r>
              <a:rPr lang="pt-BR" sz="1000" b="0" i="0" noProof="0" dirty="0" err="1">
                <a:solidFill>
                  <a:srgbClr val="FFFFFF"/>
                </a:solidFill>
                <a:latin typeface="Calibri"/>
              </a:rPr>
              <a:t>Flask</a:t>
            </a:r>
            <a:r>
              <a:rPr lang="pt-BR" sz="1000" b="0" i="0" noProof="0" dirty="0">
                <a:solidFill>
                  <a:srgbClr val="FFFFFF"/>
                </a:solidFill>
                <a:latin typeface="Calibri"/>
              </a:rPr>
              <a:t> · </a:t>
            </a:r>
            <a:r>
              <a:rPr lang="pt-BR" sz="1000" b="0" i="0" noProof="0" dirty="0" err="1">
                <a:solidFill>
                  <a:srgbClr val="FFFFFF"/>
                </a:solidFill>
                <a:latin typeface="Calibri"/>
              </a:rPr>
              <a:t>SQLite</a:t>
            </a:r>
            <a:r>
              <a:rPr lang="pt-BR" sz="1000" b="0" i="0" noProof="0" dirty="0">
                <a:solidFill>
                  <a:srgbClr val="FFFFFF"/>
                </a:solidFill>
                <a:latin typeface="Calibri"/>
              </a:rPr>
              <a:t> · </a:t>
            </a:r>
            <a:r>
              <a:rPr lang="pt-BR" sz="1000" b="0" i="0" noProof="0" dirty="0" err="1">
                <a:solidFill>
                  <a:srgbClr val="FFFFFF"/>
                </a:solidFill>
                <a:latin typeface="Calibri"/>
              </a:rPr>
              <a:t>MongoDB</a:t>
            </a:r>
            <a:r>
              <a:rPr lang="pt-BR" sz="1000" b="0" i="0" noProof="0" dirty="0">
                <a:solidFill>
                  <a:srgbClr val="FFFFFF"/>
                </a:solidFill>
                <a:latin typeface="Calibri"/>
              </a:rPr>
              <a:t> · HTML/CSS (Jinja2) · </a:t>
            </a:r>
            <a:r>
              <a:rPr lang="pt-BR" sz="1000" b="0" i="0" noProof="0" dirty="0" err="1">
                <a:solidFill>
                  <a:srgbClr val="FFFFFF"/>
                </a:solidFill>
                <a:latin typeface="Calibri"/>
              </a:rPr>
              <a:t>Git</a:t>
            </a:r>
            <a:endParaRPr lang="pt-BR" sz="1000" b="0" i="0" noProof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C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5" name="TextBox 24"/>
          <p:cNvSpPr txBox="1"/>
          <p:nvPr/>
        </p:nvSpPr>
        <p:spPr>
          <a:xfrm>
            <a:off x="274320" y="4901184"/>
            <a:ext cx="6858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00" b="0" i="0" noProof="0" dirty="0" err="1">
                <a:solidFill>
                  <a:srgbClr val="FFFFFF"/>
                </a:solidFill>
                <a:latin typeface="Calibri"/>
              </a:rPr>
              <a:t>I-Deal</a:t>
            </a:r>
            <a:r>
              <a:rPr lang="pt-BR" sz="900" b="0" i="0" noProof="0" dirty="0">
                <a:solidFill>
                  <a:srgbClr val="FFFFFF"/>
                </a:solidFill>
                <a:latin typeface="Calibri"/>
              </a:rPr>
              <a:t>  ·  Sprint 1 Review  ·  CC7540 – Laboratório Noturno 760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4901184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sz="900" b="0" i="0" noProof="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37160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800" b="1" i="0" noProof="0" dirty="0">
                <a:solidFill>
                  <a:srgbClr val="1C2B5E"/>
                </a:solidFill>
                <a:latin typeface="Georgia"/>
              </a:rPr>
              <a:t>01 · Backlog do Produto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58368"/>
            <a:ext cx="8321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400" b="0" i="0" noProof="0" dirty="0">
                <a:solidFill>
                  <a:srgbClr val="333333"/>
                </a:solidFill>
                <a:latin typeface="Calibri"/>
              </a:rPr>
              <a:t>Histórias de Usuário – Priorização </a:t>
            </a:r>
            <a:r>
              <a:rPr lang="pt-BR" sz="1400" b="0" i="0" noProof="0" dirty="0" err="1">
                <a:solidFill>
                  <a:srgbClr val="333333"/>
                </a:solidFill>
                <a:latin typeface="Calibri"/>
              </a:rPr>
              <a:t>MoSCoW</a:t>
            </a:r>
            <a:endParaRPr lang="pt-BR" sz="1400" b="0" i="0" noProof="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8321040" cy="9144"/>
          </a:xfrm>
          <a:prstGeom prst="rect">
            <a:avLst/>
          </a:prstGeom>
          <a:solidFill>
            <a:srgbClr val="2E4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16459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4A7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1645920" cy="320040"/>
          </a:xfrm>
          <a:prstGeom prst="rect">
            <a:avLst/>
          </a:prstGeom>
          <a:solidFill>
            <a:srgbClr val="4A7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274320" y="1115568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300" b="1" i="0" noProof="0" dirty="0">
                <a:solidFill>
                  <a:srgbClr val="FFFFFF"/>
                </a:solidFill>
                <a:latin typeface="Calibri"/>
              </a:rPr>
              <a:t>US01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481328"/>
            <a:ext cx="149961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200" b="1" i="0" noProof="0" dirty="0">
                <a:solidFill>
                  <a:srgbClr val="1C2B5E"/>
                </a:solidFill>
                <a:latin typeface="Calibri"/>
              </a:rPr>
              <a:t>Consultar Preços de Jogos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2103120"/>
            <a:ext cx="149961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Pesquisar título e ver ofertas de múltiplas lojas centralizadas.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" y="3063240"/>
            <a:ext cx="1499616" cy="256032"/>
          </a:xfrm>
          <a:prstGeom prst="rect">
            <a:avLst/>
          </a:prstGeom>
          <a:solidFill>
            <a:srgbClr val="4A7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347472" y="3063240"/>
            <a:ext cx="14996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900" b="1" i="0" noProof="0" dirty="0">
                <a:solidFill>
                  <a:srgbClr val="FFFFFF"/>
                </a:solidFill>
                <a:latin typeface="Calibri"/>
              </a:rPr>
              <a:t>MUST HAVE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3364992"/>
            <a:ext cx="14996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900" b="1" i="0" noProof="0" dirty="0">
                <a:solidFill>
                  <a:srgbClr val="4A7C3F"/>
                </a:solidFill>
                <a:latin typeface="Calibri"/>
              </a:rPr>
              <a:t>[Sprint 1]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29967" y="1097280"/>
            <a:ext cx="16459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4" name="Rectangle 13"/>
          <p:cNvSpPr/>
          <p:nvPr/>
        </p:nvSpPr>
        <p:spPr>
          <a:xfrm>
            <a:off x="2029967" y="1097280"/>
            <a:ext cx="1645920" cy="3200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2029967" y="1115568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300" b="1" i="0" noProof="0" dirty="0">
                <a:solidFill>
                  <a:srgbClr val="FFFFFF"/>
                </a:solidFill>
                <a:latin typeface="Calibri"/>
              </a:rPr>
              <a:t>US02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1481328"/>
            <a:ext cx="149961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200" b="1" i="0" noProof="0" dirty="0">
                <a:solidFill>
                  <a:srgbClr val="1C2B5E"/>
                </a:solidFill>
                <a:latin typeface="Calibri"/>
              </a:rPr>
              <a:t>Visualizar Histórico de Preços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2103120"/>
            <a:ext cx="149961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Gráfico temporal de variação de preço para decisão informada.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03120" y="3063240"/>
            <a:ext cx="1499616" cy="25603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9" name="TextBox 18"/>
          <p:cNvSpPr txBox="1"/>
          <p:nvPr/>
        </p:nvSpPr>
        <p:spPr>
          <a:xfrm>
            <a:off x="2103120" y="3063240"/>
            <a:ext cx="14996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900" b="1" i="0" noProof="0" dirty="0">
                <a:solidFill>
                  <a:srgbClr val="FFFFFF"/>
                </a:solidFill>
                <a:latin typeface="Calibri"/>
              </a:rPr>
              <a:t>SHOULD HAVE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3364992"/>
            <a:ext cx="14996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900" b="1" i="0" noProof="0" dirty="0">
                <a:solidFill>
                  <a:srgbClr val="028090"/>
                </a:solidFill>
                <a:latin typeface="Calibri"/>
              </a:rPr>
              <a:t>Sprint 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85615" y="1097280"/>
            <a:ext cx="16459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2" name="Rectangle 21"/>
          <p:cNvSpPr/>
          <p:nvPr/>
        </p:nvSpPr>
        <p:spPr>
          <a:xfrm>
            <a:off x="3785615" y="1097280"/>
            <a:ext cx="1645920" cy="3200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3" name="TextBox 22"/>
          <p:cNvSpPr txBox="1"/>
          <p:nvPr/>
        </p:nvSpPr>
        <p:spPr>
          <a:xfrm>
            <a:off x="3785615" y="1115568"/>
            <a:ext cx="1645920" cy="301752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/>
            <a:r>
              <a:rPr lang="pt-BR" sz="1300" b="1" i="0" noProof="0" dirty="0">
                <a:solidFill>
                  <a:srgbClr val="FFFFFF"/>
                </a:solidFill>
                <a:latin typeface="Calibri"/>
              </a:rPr>
              <a:t>US03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58768" y="1481328"/>
            <a:ext cx="149961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200" b="1" i="0" noProof="0" dirty="0">
                <a:solidFill>
                  <a:srgbClr val="1C2B5E"/>
                </a:solidFill>
                <a:latin typeface="Calibri"/>
              </a:rPr>
              <a:t>Gerenciar Alertas de Preço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58768" y="2103120"/>
            <a:ext cx="149961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Definir </a:t>
            </a:r>
            <a:r>
              <a:rPr lang="pt-BR" sz="1000" b="0" i="0" noProof="0" dirty="0" err="1">
                <a:solidFill>
                  <a:srgbClr val="333333"/>
                </a:solidFill>
                <a:latin typeface="Calibri"/>
              </a:rPr>
              <a:t>valor-alvo</a:t>
            </a:r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 e receber notificação quando atingido.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58768" y="3063240"/>
            <a:ext cx="1499616" cy="25603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7" name="TextBox 26"/>
          <p:cNvSpPr txBox="1"/>
          <p:nvPr/>
        </p:nvSpPr>
        <p:spPr>
          <a:xfrm>
            <a:off x="3858768" y="3063240"/>
            <a:ext cx="1499616" cy="256032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/>
            <a:r>
              <a:rPr lang="pt-BR" sz="900" b="1" i="0" noProof="0" dirty="0">
                <a:solidFill>
                  <a:srgbClr val="FFFFFF"/>
                </a:solidFill>
                <a:latin typeface="Calibri"/>
              </a:rPr>
              <a:t>COULD HAVE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58768" y="3364992"/>
            <a:ext cx="14996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900" b="1" i="0" noProof="0" dirty="0">
                <a:solidFill>
                  <a:srgbClr val="D4A017"/>
                </a:solidFill>
                <a:latin typeface="Calibri"/>
              </a:rPr>
              <a:t>Sprint 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41264" y="1097280"/>
            <a:ext cx="16459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0" name="Rectangle 29"/>
          <p:cNvSpPr/>
          <p:nvPr/>
        </p:nvSpPr>
        <p:spPr>
          <a:xfrm>
            <a:off x="5541264" y="1097280"/>
            <a:ext cx="1645920" cy="3200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1" name="TextBox 30"/>
          <p:cNvSpPr txBox="1"/>
          <p:nvPr/>
        </p:nvSpPr>
        <p:spPr>
          <a:xfrm>
            <a:off x="5532119" y="1105831"/>
            <a:ext cx="1645920" cy="301752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300" b="1" i="0">
                <a:solidFill>
                  <a:srgbClr val="FFFFFF"/>
                </a:solidFill>
                <a:latin typeface="Calibri"/>
              </a:defRPr>
            </a:lvl1pPr>
          </a:lstStyle>
          <a:p>
            <a:r>
              <a:rPr lang="pt-BR" dirty="0"/>
              <a:t>US04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14416" y="1481328"/>
            <a:ext cx="149961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200" b="1" i="0" noProof="0" dirty="0">
                <a:solidFill>
                  <a:srgbClr val="1C2B5E"/>
                </a:solidFill>
                <a:latin typeface="Calibri"/>
              </a:rPr>
              <a:t>Redirecionamento para Loja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14416" y="2103120"/>
            <a:ext cx="149961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Link direto para o varejista com o melhor preço encontrado.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14416" y="3063240"/>
            <a:ext cx="1499616" cy="2560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5" name="TextBox 34"/>
          <p:cNvSpPr txBox="1"/>
          <p:nvPr/>
        </p:nvSpPr>
        <p:spPr>
          <a:xfrm>
            <a:off x="5614416" y="3063240"/>
            <a:ext cx="1499616" cy="230832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/>
            <a:r>
              <a:rPr lang="pt-BR" sz="900" b="1" i="0" noProof="0" dirty="0">
                <a:solidFill>
                  <a:srgbClr val="FFFFFF"/>
                </a:solidFill>
                <a:latin typeface="Calibri"/>
              </a:rPr>
              <a:t>COULD HAVE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14416" y="3364992"/>
            <a:ext cx="14996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900" b="1" i="0" noProof="0" dirty="0">
                <a:solidFill>
                  <a:srgbClr val="028090"/>
                </a:solidFill>
                <a:latin typeface="Calibri"/>
              </a:rPr>
              <a:t>Sprint 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96912" y="1097280"/>
            <a:ext cx="16459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4A7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8" name="Rectangle 37"/>
          <p:cNvSpPr/>
          <p:nvPr/>
        </p:nvSpPr>
        <p:spPr>
          <a:xfrm>
            <a:off x="7296912" y="1097280"/>
            <a:ext cx="1645920" cy="320040"/>
          </a:xfrm>
          <a:prstGeom prst="rect">
            <a:avLst/>
          </a:prstGeom>
          <a:solidFill>
            <a:srgbClr val="4A7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9" name="TextBox 38"/>
          <p:cNvSpPr txBox="1"/>
          <p:nvPr/>
        </p:nvSpPr>
        <p:spPr>
          <a:xfrm>
            <a:off x="7296912" y="1115568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300" b="1" i="0" noProof="0" dirty="0">
                <a:solidFill>
                  <a:srgbClr val="FFFFFF"/>
                </a:solidFill>
                <a:latin typeface="Calibri"/>
              </a:rPr>
              <a:t>US05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70063" y="1481328"/>
            <a:ext cx="149961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200" b="1" i="0" noProof="0" dirty="0">
                <a:solidFill>
                  <a:srgbClr val="1C2B5E"/>
                </a:solidFill>
                <a:latin typeface="Calibri"/>
              </a:rPr>
              <a:t>Login / Autenticação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70063" y="2103120"/>
            <a:ext cx="149961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Cadastro e acesso seguro à conta do usuário.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70063" y="3063240"/>
            <a:ext cx="1499616" cy="256032"/>
          </a:xfrm>
          <a:prstGeom prst="rect">
            <a:avLst/>
          </a:prstGeom>
          <a:solidFill>
            <a:srgbClr val="4A7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3" name="TextBox 42"/>
          <p:cNvSpPr txBox="1"/>
          <p:nvPr/>
        </p:nvSpPr>
        <p:spPr>
          <a:xfrm>
            <a:off x="7370063" y="3063240"/>
            <a:ext cx="14996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900" b="1" i="0" noProof="0" dirty="0">
                <a:solidFill>
                  <a:srgbClr val="FFFFFF"/>
                </a:solidFill>
                <a:latin typeface="Calibri"/>
              </a:rPr>
              <a:t>MUST HAVE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70063" y="3364992"/>
            <a:ext cx="14996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900" b="1" i="0" noProof="0" dirty="0">
                <a:solidFill>
                  <a:srgbClr val="4A7C3F"/>
                </a:solidFill>
                <a:latin typeface="Calibri"/>
              </a:rPr>
              <a:t>[Sprint 1]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" y="455371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4A7C3F"/>
                </a:solidFill>
                <a:latin typeface="Calibri"/>
              </a:rPr>
              <a:t>[*] Entregue na Sprint 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C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7" name="TextBox 46"/>
          <p:cNvSpPr txBox="1"/>
          <p:nvPr/>
        </p:nvSpPr>
        <p:spPr>
          <a:xfrm>
            <a:off x="274320" y="4901184"/>
            <a:ext cx="6858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00" b="0" i="0" noProof="0" dirty="0" err="1">
                <a:solidFill>
                  <a:srgbClr val="FFFFFF"/>
                </a:solidFill>
                <a:latin typeface="Calibri"/>
              </a:rPr>
              <a:t>I-Deal</a:t>
            </a:r>
            <a:r>
              <a:rPr lang="pt-BR" sz="900" b="0" i="0" noProof="0" dirty="0">
                <a:solidFill>
                  <a:srgbClr val="FFFFFF"/>
                </a:solidFill>
                <a:latin typeface="Calibri"/>
              </a:rPr>
              <a:t>  ·  Sprint 1 Review  ·  CC7540 – Laboratório Noturno 760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0" y="4901184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sz="900" b="0" i="0" noProof="0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37160"/>
            <a:ext cx="8321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800" b="1" i="0" noProof="0" dirty="0">
                <a:solidFill>
                  <a:srgbClr val="1C2B5E"/>
                </a:solidFill>
                <a:latin typeface="Georgia"/>
              </a:rPr>
              <a:t>02 · Sprint Backlog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658368"/>
            <a:ext cx="8321040" cy="9144"/>
          </a:xfrm>
          <a:prstGeom prst="rect">
            <a:avLst/>
          </a:prstGeom>
          <a:solidFill>
            <a:srgbClr val="2E4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Rectangle 3"/>
          <p:cNvSpPr/>
          <p:nvPr/>
        </p:nvSpPr>
        <p:spPr>
          <a:xfrm>
            <a:off x="274320" y="731520"/>
            <a:ext cx="8595360" cy="658368"/>
          </a:xfrm>
          <a:prstGeom prst="rect">
            <a:avLst/>
          </a:prstGeom>
          <a:solidFill>
            <a:srgbClr val="1C2B5E"/>
          </a:solidFill>
          <a:ln w="12700">
            <a:solidFill>
              <a:srgbClr val="1C2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76809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100" b="1" i="0" noProof="0" dirty="0">
                <a:solidFill>
                  <a:srgbClr val="4A7C3F"/>
                </a:solidFill>
                <a:latin typeface="Calibri"/>
              </a:rPr>
              <a:t>Objetivo da Sprint 1: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21408" y="768096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100" b="0" i="0" noProof="0" dirty="0">
                <a:solidFill>
                  <a:srgbClr val="FFFFFF"/>
                </a:solidFill>
                <a:latin typeface="Calibri"/>
              </a:rPr>
              <a:t>Implementar o MVP do </a:t>
            </a:r>
            <a:r>
              <a:rPr lang="pt-BR" sz="1100" b="0" i="0" noProof="0" dirty="0" err="1">
                <a:solidFill>
                  <a:srgbClr val="FFFFFF"/>
                </a:solidFill>
                <a:latin typeface="Calibri"/>
              </a:rPr>
              <a:t>I-Deal</a:t>
            </a:r>
            <a:r>
              <a:rPr lang="pt-BR" sz="1100" b="0" i="0" noProof="0" dirty="0">
                <a:solidFill>
                  <a:srgbClr val="FFFFFF"/>
                </a:solidFill>
                <a:latin typeface="Calibri"/>
              </a:rPr>
              <a:t> — </a:t>
            </a:r>
            <a:r>
              <a:rPr lang="pt-BR" sz="1100" b="0" i="0" noProof="0" dirty="0" err="1">
                <a:solidFill>
                  <a:srgbClr val="FFFFFF"/>
                </a:solidFill>
                <a:latin typeface="Calibri"/>
              </a:rPr>
              <a:t>autenticacao</a:t>
            </a:r>
            <a:r>
              <a:rPr lang="pt-BR" sz="1100" b="0" i="0" noProof="0" dirty="0">
                <a:solidFill>
                  <a:srgbClr val="FFFFFF"/>
                </a:solidFill>
                <a:latin typeface="Calibri"/>
              </a:rPr>
              <a:t>, catálogo de jogos com </a:t>
            </a:r>
            <a:r>
              <a:rPr lang="pt-BR" sz="1100" b="0" i="0" noProof="0" dirty="0" err="1">
                <a:solidFill>
                  <a:srgbClr val="FFFFFF"/>
                </a:solidFill>
                <a:latin typeface="Calibri"/>
              </a:rPr>
              <a:t>precos</a:t>
            </a:r>
            <a:r>
              <a:rPr lang="pt-BR" sz="1100" b="0" i="0" noProof="0" dirty="0">
                <a:solidFill>
                  <a:srgbClr val="FFFFFF"/>
                </a:solidFill>
                <a:latin typeface="Calibri"/>
              </a:rPr>
              <a:t>, </a:t>
            </a:r>
            <a:r>
              <a:rPr lang="pt-BR" sz="1100" b="0" i="0" noProof="0" dirty="0" err="1">
                <a:solidFill>
                  <a:srgbClr val="FFFFFF"/>
                </a:solidFill>
                <a:latin typeface="Calibri"/>
              </a:rPr>
              <a:t>historico</a:t>
            </a:r>
            <a:r>
              <a:rPr lang="pt-BR" sz="1100" b="0" i="0" noProof="0" dirty="0">
                <a:solidFill>
                  <a:srgbClr val="FFFFFF"/>
                </a:solidFill>
                <a:latin typeface="Calibri"/>
              </a:rPr>
              <a:t> e redirecionamento para lojas.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79792" y="76809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sz="900" b="1" i="0" noProof="0" dirty="0">
                <a:solidFill>
                  <a:srgbClr val="B0C4DE"/>
                </a:solidFill>
                <a:latin typeface="Calibri"/>
              </a:rPr>
              <a:t>4 Membros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79792" y="89611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sz="900" b="0" i="0" noProof="0" dirty="0">
                <a:solidFill>
                  <a:srgbClr val="B0C4DE"/>
                </a:solidFill>
                <a:latin typeface="Calibri"/>
              </a:rPr>
              <a:t>224h Capacidade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79792" y="102412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sz="900" b="0" i="0" noProof="0" dirty="0">
                <a:solidFill>
                  <a:srgbClr val="B0C4DE"/>
                </a:solidFill>
                <a:latin typeface="Calibri"/>
              </a:rPr>
              <a:t>12 Tarefas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79792" y="1152144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sz="900" b="0" i="0" noProof="0" dirty="0">
                <a:solidFill>
                  <a:srgbClr val="B0C4DE"/>
                </a:solidFill>
                <a:latin typeface="Calibri"/>
              </a:rPr>
              <a:t>21/03 Entrega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481328"/>
            <a:ext cx="8595360" cy="292608"/>
          </a:xfrm>
          <a:prstGeom prst="rect">
            <a:avLst/>
          </a:prstGeom>
          <a:solidFill>
            <a:srgbClr val="2E4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384048" y="1499616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FFFFFF"/>
                </a:solidFill>
                <a:latin typeface="Calibri"/>
              </a:rPr>
              <a:t>Tarefa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149961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FFFFFF"/>
                </a:solidFill>
                <a:latin typeface="Calibri"/>
              </a:rPr>
              <a:t>Descrição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0832" y="1499616"/>
            <a:ext cx="1572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FFFFFF"/>
                </a:solidFill>
                <a:latin typeface="Calibri"/>
              </a:rPr>
              <a:t>Responsável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1499616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FFFFFF"/>
                </a:solidFill>
                <a:latin typeface="Calibri"/>
              </a:rPr>
              <a:t>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93408" y="149961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773936"/>
            <a:ext cx="8595360" cy="246888"/>
          </a:xfrm>
          <a:prstGeom prst="rect">
            <a:avLst/>
          </a:prstGeom>
          <a:solidFill>
            <a:srgbClr val="F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8" name="TextBox 17"/>
          <p:cNvSpPr txBox="1"/>
          <p:nvPr/>
        </p:nvSpPr>
        <p:spPr>
          <a:xfrm>
            <a:off x="384048" y="1792224"/>
            <a:ext cx="5669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1C2B5E"/>
                </a:solidFill>
                <a:latin typeface="Calibri"/>
              </a:rPr>
              <a:t>1.1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1792224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Criação de classes para Login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0832" y="1792224"/>
            <a:ext cx="15727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2E4A9E"/>
                </a:solidFill>
                <a:latin typeface="Calibri"/>
              </a:rPr>
              <a:t>Isabella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1792224"/>
            <a:ext cx="6583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028090"/>
                </a:solidFill>
                <a:latin typeface="Calibri"/>
              </a:rPr>
              <a:t>US05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93408" y="1792224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4A7C3F"/>
                </a:solidFill>
                <a:latin typeface="Calibri"/>
              </a:rPr>
              <a:t>[OK] Entregue 11/mar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020824"/>
            <a:ext cx="859536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4" name="TextBox 23"/>
          <p:cNvSpPr txBox="1"/>
          <p:nvPr/>
        </p:nvSpPr>
        <p:spPr>
          <a:xfrm>
            <a:off x="384048" y="2039112"/>
            <a:ext cx="5669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1C2B5E"/>
                </a:solidFill>
                <a:latin typeface="Calibri"/>
              </a:rPr>
              <a:t>1.2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2039112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Criação de classes para Cadastro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70832" y="2039112"/>
            <a:ext cx="15727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2E4A9E"/>
                </a:solidFill>
                <a:latin typeface="Calibri"/>
              </a:rPr>
              <a:t>Isabella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9320" y="2039112"/>
            <a:ext cx="6583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028090"/>
                </a:solidFill>
                <a:latin typeface="Calibri"/>
              </a:rPr>
              <a:t>US05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93408" y="2039112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4A7C3F"/>
                </a:solidFill>
                <a:latin typeface="Calibri"/>
              </a:rPr>
              <a:t>[OK] Entregue 11/mar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267712"/>
            <a:ext cx="8595360" cy="246888"/>
          </a:xfrm>
          <a:prstGeom prst="rect">
            <a:avLst/>
          </a:prstGeom>
          <a:solidFill>
            <a:srgbClr val="F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0" name="TextBox 29"/>
          <p:cNvSpPr txBox="1"/>
          <p:nvPr/>
        </p:nvSpPr>
        <p:spPr>
          <a:xfrm>
            <a:off x="384048" y="2286000"/>
            <a:ext cx="5669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1C2B5E"/>
                </a:solidFill>
                <a:latin typeface="Calibri"/>
              </a:rPr>
              <a:t>1.3.1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2286000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Tabela de Usuários (BD)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70832" y="2286000"/>
            <a:ext cx="15727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2E4A9E"/>
                </a:solidFill>
                <a:latin typeface="Calibri"/>
              </a:rPr>
              <a:t>Isabella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89320" y="2286000"/>
            <a:ext cx="6583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028090"/>
                </a:solidFill>
                <a:latin typeface="Calibri"/>
              </a:rPr>
              <a:t>US01/05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93408" y="2286000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4A7C3F"/>
                </a:solidFill>
                <a:latin typeface="Calibri"/>
              </a:rPr>
              <a:t>[OK] Entregue 13/mar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2514600"/>
            <a:ext cx="859536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6" name="TextBox 35"/>
          <p:cNvSpPr txBox="1"/>
          <p:nvPr/>
        </p:nvSpPr>
        <p:spPr>
          <a:xfrm>
            <a:off x="384048" y="2532888"/>
            <a:ext cx="5669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1C2B5E"/>
                </a:solidFill>
                <a:latin typeface="Calibri"/>
              </a:rPr>
              <a:t>1.3.2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" y="2532888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Tabela de Jogos (BD)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70832" y="2532888"/>
            <a:ext cx="15727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2E4A9E"/>
                </a:solidFill>
                <a:latin typeface="Calibri"/>
              </a:rPr>
              <a:t>Isabella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89320" y="2532888"/>
            <a:ext cx="6583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028090"/>
                </a:solidFill>
                <a:latin typeface="Calibri"/>
              </a:rPr>
              <a:t>US01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93408" y="2532888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4A7C3F"/>
                </a:solidFill>
                <a:latin typeface="Calibri"/>
              </a:rPr>
              <a:t>[OK] Entregue 13/mar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2761488"/>
            <a:ext cx="8595360" cy="246888"/>
          </a:xfrm>
          <a:prstGeom prst="rect">
            <a:avLst/>
          </a:prstGeom>
          <a:solidFill>
            <a:srgbClr val="F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2" name="TextBox 41"/>
          <p:cNvSpPr txBox="1"/>
          <p:nvPr/>
        </p:nvSpPr>
        <p:spPr>
          <a:xfrm>
            <a:off x="384048" y="2779776"/>
            <a:ext cx="5669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1C2B5E"/>
                </a:solidFill>
                <a:latin typeface="Calibri"/>
              </a:rPr>
              <a:t>1.3.3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" y="2779776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Tabela de Preços (BD)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70832" y="2779776"/>
            <a:ext cx="15727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2E4A9E"/>
                </a:solidFill>
                <a:latin typeface="Calibri"/>
              </a:rPr>
              <a:t>Isabella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89320" y="2779776"/>
            <a:ext cx="6583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028090"/>
                </a:solidFill>
                <a:latin typeface="Calibri"/>
              </a:rPr>
              <a:t>US01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93408" y="2779776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D4A017"/>
                </a:solidFill>
                <a:latin typeface="Calibri"/>
              </a:rPr>
              <a:t>[!] Entregue c/ 1d atraso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3008376"/>
            <a:ext cx="859536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8" name="TextBox 47"/>
          <p:cNvSpPr txBox="1"/>
          <p:nvPr/>
        </p:nvSpPr>
        <p:spPr>
          <a:xfrm>
            <a:off x="384048" y="3026664"/>
            <a:ext cx="5669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1C2B5E"/>
                </a:solidFill>
                <a:latin typeface="Calibri"/>
              </a:rPr>
              <a:t>1.4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5840" y="3026664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Personalização do site via dados do banco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70832" y="3026664"/>
            <a:ext cx="15727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2E4A9E"/>
                </a:solidFill>
                <a:latin typeface="Calibri"/>
              </a:rPr>
              <a:t>Gustavo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89320" y="3026664"/>
            <a:ext cx="6583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028090"/>
                </a:solidFill>
                <a:latin typeface="Calibri"/>
              </a:rPr>
              <a:t>US01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93408" y="3026664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4A7C3F"/>
                </a:solidFill>
                <a:latin typeface="Calibri"/>
              </a:rPr>
              <a:t>[OK] Entregue 13/mar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3255264"/>
            <a:ext cx="8595360" cy="246888"/>
          </a:xfrm>
          <a:prstGeom prst="rect">
            <a:avLst/>
          </a:prstGeom>
          <a:solidFill>
            <a:srgbClr val="F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4" name="TextBox 53"/>
          <p:cNvSpPr txBox="1"/>
          <p:nvPr/>
        </p:nvSpPr>
        <p:spPr>
          <a:xfrm>
            <a:off x="384048" y="3273552"/>
            <a:ext cx="5669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1C2B5E"/>
                </a:solidFill>
                <a:latin typeface="Calibri"/>
              </a:rPr>
              <a:t>1.5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5840" y="3273552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Interface visual Cadastro/Login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70832" y="3273552"/>
            <a:ext cx="15727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2E4A9E"/>
                </a:solidFill>
                <a:latin typeface="Calibri"/>
              </a:rPr>
              <a:t>Gustavo + Henrique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89320" y="3273552"/>
            <a:ext cx="6583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028090"/>
                </a:solidFill>
                <a:latin typeface="Calibri"/>
              </a:rPr>
              <a:t>US05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93408" y="3273552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4A7C3F"/>
                </a:solidFill>
                <a:latin typeface="Calibri"/>
              </a:rPr>
              <a:t>[OK] Entregue 13/mar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3502152"/>
            <a:ext cx="859536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0" name="TextBox 59"/>
          <p:cNvSpPr txBox="1"/>
          <p:nvPr/>
        </p:nvSpPr>
        <p:spPr>
          <a:xfrm>
            <a:off x="384048" y="3520440"/>
            <a:ext cx="5669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1C2B5E"/>
                </a:solidFill>
                <a:latin typeface="Calibri"/>
              </a:rPr>
              <a:t>2.3.1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05840" y="3520440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Gerar link para o site do jogo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70832" y="3520440"/>
            <a:ext cx="15727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2E4A9E"/>
                </a:solidFill>
                <a:latin typeface="Calibri"/>
              </a:rPr>
              <a:t>Matheus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89320" y="3520440"/>
            <a:ext cx="6583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028090"/>
                </a:solidFill>
                <a:latin typeface="Calibri"/>
              </a:rPr>
              <a:t>US04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93408" y="3520440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4A7C3F"/>
                </a:solidFill>
                <a:latin typeface="Calibri"/>
              </a:rPr>
              <a:t>[OK] Entregue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3749039"/>
            <a:ext cx="8595360" cy="246888"/>
          </a:xfrm>
          <a:prstGeom prst="rect">
            <a:avLst/>
          </a:prstGeom>
          <a:solidFill>
            <a:srgbClr val="F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6" name="TextBox 65"/>
          <p:cNvSpPr txBox="1"/>
          <p:nvPr/>
        </p:nvSpPr>
        <p:spPr>
          <a:xfrm>
            <a:off x="384048" y="3767327"/>
            <a:ext cx="5669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1C2B5E"/>
                </a:solidFill>
                <a:latin typeface="Calibri"/>
              </a:rPr>
              <a:t>2.3.2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05840" y="3767327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Armazenar navegação no banco (</a:t>
            </a:r>
            <a:r>
              <a:rPr lang="pt-BR" sz="950" b="0" i="0" noProof="0" dirty="0" err="1">
                <a:solidFill>
                  <a:srgbClr val="333333"/>
                </a:solidFill>
                <a:latin typeface="Calibri"/>
              </a:rPr>
              <a:t>MongoDB</a:t>
            </a:r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370832" y="3767327"/>
            <a:ext cx="15727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2E4A9E"/>
                </a:solidFill>
                <a:latin typeface="Calibri"/>
              </a:rPr>
              <a:t>Matheus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989320" y="3767327"/>
            <a:ext cx="6583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028090"/>
                </a:solidFill>
                <a:latin typeface="Calibri"/>
              </a:rPr>
              <a:t>US04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693408" y="3767327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4A7C3F"/>
                </a:solidFill>
                <a:latin typeface="Calibri"/>
              </a:rPr>
              <a:t>[OK] Entregue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" y="3995928"/>
            <a:ext cx="859536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72" name="TextBox 71"/>
          <p:cNvSpPr txBox="1"/>
          <p:nvPr/>
        </p:nvSpPr>
        <p:spPr>
          <a:xfrm>
            <a:off x="384048" y="4014215"/>
            <a:ext cx="5669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1C2B5E"/>
                </a:solidFill>
                <a:latin typeface="Calibri"/>
              </a:rPr>
              <a:t>3.1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05840" y="4014215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Queries de preços no </a:t>
            </a:r>
            <a:r>
              <a:rPr lang="pt-BR" sz="950" b="0" i="0" noProof="0" dirty="0" err="1">
                <a:solidFill>
                  <a:srgbClr val="333333"/>
                </a:solidFill>
                <a:latin typeface="Calibri"/>
              </a:rPr>
              <a:t>SteamDB</a:t>
            </a:r>
            <a:endParaRPr lang="pt-BR" sz="950" b="0" i="0" noProof="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4370832" y="4014215"/>
            <a:ext cx="15727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2E4A9E"/>
                </a:solidFill>
                <a:latin typeface="Calibri"/>
              </a:rPr>
              <a:t>Henrique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989320" y="4014215"/>
            <a:ext cx="6583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028090"/>
                </a:solidFill>
                <a:latin typeface="Calibri"/>
              </a:rPr>
              <a:t>US01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693408" y="4014215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4A7C3F"/>
                </a:solidFill>
                <a:latin typeface="Calibri"/>
              </a:rPr>
              <a:t>[OK] Entregue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74320" y="4242816"/>
            <a:ext cx="8595360" cy="246888"/>
          </a:xfrm>
          <a:prstGeom prst="rect">
            <a:avLst/>
          </a:prstGeom>
          <a:solidFill>
            <a:srgbClr val="F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78" name="TextBox 77"/>
          <p:cNvSpPr txBox="1"/>
          <p:nvPr/>
        </p:nvSpPr>
        <p:spPr>
          <a:xfrm>
            <a:off x="384048" y="4261104"/>
            <a:ext cx="5669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1C2B5E"/>
                </a:solidFill>
                <a:latin typeface="Calibri"/>
              </a:rPr>
              <a:t>3.2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05840" y="4261104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Queries de preços no </a:t>
            </a:r>
            <a:r>
              <a:rPr lang="pt-BR" sz="950" b="0" i="0" noProof="0" dirty="0" err="1">
                <a:solidFill>
                  <a:srgbClr val="333333"/>
                </a:solidFill>
                <a:latin typeface="Calibri"/>
              </a:rPr>
              <a:t>MongoDB</a:t>
            </a:r>
            <a:endParaRPr lang="pt-BR" sz="950" b="0" i="0" noProof="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4370832" y="4261104"/>
            <a:ext cx="15727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2E4A9E"/>
                </a:solidFill>
                <a:latin typeface="Calibri"/>
              </a:rPr>
              <a:t>Henrique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989320" y="4261104"/>
            <a:ext cx="6583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028090"/>
                </a:solidFill>
                <a:latin typeface="Calibri"/>
              </a:rPr>
              <a:t>US01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693408" y="4261104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4A7C3F"/>
                </a:solidFill>
                <a:latin typeface="Calibri"/>
              </a:rPr>
              <a:t>[OK] Entregue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74320" y="4489704"/>
            <a:ext cx="859536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84" name="TextBox 83"/>
          <p:cNvSpPr txBox="1"/>
          <p:nvPr/>
        </p:nvSpPr>
        <p:spPr>
          <a:xfrm>
            <a:off x="384048" y="4507992"/>
            <a:ext cx="5669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1C2B5E"/>
                </a:solidFill>
                <a:latin typeface="Calibri"/>
              </a:rPr>
              <a:t>3.4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05840" y="4507992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Interface visual para histórico de preços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370832" y="4507992"/>
            <a:ext cx="15727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2E4A9E"/>
                </a:solidFill>
                <a:latin typeface="Calibri"/>
              </a:rPr>
              <a:t>Henrique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989320" y="4507992"/>
            <a:ext cx="6583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028090"/>
                </a:solidFill>
                <a:latin typeface="Calibri"/>
              </a:rPr>
              <a:t>US02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693408" y="4507992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4A7C3F"/>
                </a:solidFill>
                <a:latin typeface="Calibri"/>
              </a:rPr>
              <a:t>[OK] Entregue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C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90" name="TextBox 89"/>
          <p:cNvSpPr txBox="1"/>
          <p:nvPr/>
        </p:nvSpPr>
        <p:spPr>
          <a:xfrm>
            <a:off x="274320" y="4901184"/>
            <a:ext cx="6858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00" b="0" i="0" noProof="0" dirty="0" err="1">
                <a:solidFill>
                  <a:srgbClr val="FFFFFF"/>
                </a:solidFill>
                <a:latin typeface="Calibri"/>
              </a:rPr>
              <a:t>I-Deal</a:t>
            </a:r>
            <a:r>
              <a:rPr lang="pt-BR" sz="900" b="0" i="0" noProof="0" dirty="0">
                <a:solidFill>
                  <a:srgbClr val="FFFFFF"/>
                </a:solidFill>
                <a:latin typeface="Calibri"/>
              </a:rPr>
              <a:t>  ·  Sprint 1 Review  ·  CC7540 – Laboratório Noturno 760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686800" y="4901184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sz="900" b="0" i="0" noProof="0" dirty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09728"/>
            <a:ext cx="8321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800" b="1" i="0" noProof="0" dirty="0">
                <a:solidFill>
                  <a:srgbClr val="1C2B5E"/>
                </a:solidFill>
                <a:latin typeface="Georgia"/>
              </a:rPr>
              <a:t>03 · </a:t>
            </a:r>
            <a:r>
              <a:rPr lang="pt-BR" sz="2800" b="1" i="0" noProof="0" dirty="0" err="1">
                <a:solidFill>
                  <a:srgbClr val="1C2B5E"/>
                </a:solidFill>
                <a:latin typeface="Georgia"/>
              </a:rPr>
              <a:t>Kanban</a:t>
            </a:r>
            <a:r>
              <a:rPr lang="pt-BR" sz="2800" b="1" i="0" noProof="0" dirty="0">
                <a:solidFill>
                  <a:srgbClr val="1C2B5E"/>
                </a:solidFill>
                <a:latin typeface="Georgia"/>
              </a:rPr>
              <a:t> da Sprint 1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621792"/>
            <a:ext cx="8321040" cy="9144"/>
          </a:xfrm>
          <a:prstGeom prst="rect">
            <a:avLst/>
          </a:prstGeom>
          <a:solidFill>
            <a:srgbClr val="2E4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Rectangle 3"/>
          <p:cNvSpPr/>
          <p:nvPr/>
        </p:nvSpPr>
        <p:spPr>
          <a:xfrm>
            <a:off x="7132320" y="137160"/>
            <a:ext cx="1737360" cy="347472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7150608" y="173736"/>
            <a:ext cx="17190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000" b="1" i="0" noProof="0" dirty="0">
                <a:solidFill>
                  <a:srgbClr val="FFFFFF"/>
                </a:solidFill>
                <a:latin typeface="Calibri"/>
              </a:rPr>
              <a:t>Ferramenta: </a:t>
            </a:r>
            <a:r>
              <a:rPr lang="pt-BR" sz="1000" b="1" i="0" noProof="0" dirty="0" err="1">
                <a:solidFill>
                  <a:srgbClr val="FFFFFF"/>
                </a:solidFill>
                <a:latin typeface="Calibri"/>
              </a:rPr>
              <a:t>Trello</a:t>
            </a:r>
            <a:endParaRPr lang="pt-BR" sz="1000" b="1" i="0" noProof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74320" y="749808"/>
            <a:ext cx="1572768" cy="6400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320040" y="804671"/>
            <a:ext cx="14813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b="1" i="0" noProof="0" dirty="0">
                <a:solidFill>
                  <a:srgbClr val="333333"/>
                </a:solidFill>
                <a:latin typeface="Calibri"/>
              </a:rPr>
              <a:t>Backlog
Projeto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89888"/>
            <a:ext cx="157276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329184" y="1527048"/>
            <a:ext cx="1463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Historias prontas
para sprints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79" y="3419856"/>
            <a:ext cx="1298448" cy="2743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411479" y="3419856"/>
            <a:ext cx="1298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950" b="1" i="0" noProof="0" dirty="0">
                <a:solidFill>
                  <a:srgbClr val="1C2B5E"/>
                </a:solidFill>
                <a:latin typeface="Calibri"/>
              </a:rPr>
              <a:t>5 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65375" y="2487168"/>
            <a:ext cx="73152" cy="182880"/>
          </a:xfrm>
          <a:prstGeom prst="rect">
            <a:avLst/>
          </a:prstGeom>
          <a:solidFill>
            <a:srgbClr val="2E4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3" name="Rectangle 12"/>
          <p:cNvSpPr/>
          <p:nvPr/>
        </p:nvSpPr>
        <p:spPr>
          <a:xfrm>
            <a:off x="1938528" y="749808"/>
            <a:ext cx="1572768" cy="640080"/>
          </a:xfrm>
          <a:prstGeom prst="rect">
            <a:avLst/>
          </a:prstGeom>
          <a:solidFill>
            <a:srgbClr val="2E4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1984248" y="804671"/>
            <a:ext cx="14813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b="1" i="0" noProof="0" dirty="0">
                <a:solidFill>
                  <a:srgbClr val="FFFFFF"/>
                </a:solidFill>
                <a:latin typeface="Calibri"/>
              </a:rPr>
              <a:t>SPRINT 1
A Fazer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38528" y="1389888"/>
            <a:ext cx="157276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1993392" y="1527048"/>
            <a:ext cx="1463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Tarefas aguardando
inicio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75688" y="3419856"/>
            <a:ext cx="1298448" cy="274320"/>
          </a:xfrm>
          <a:prstGeom prst="rect">
            <a:avLst/>
          </a:prstGeom>
          <a:solidFill>
            <a:srgbClr val="2E4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8" name="TextBox 17"/>
          <p:cNvSpPr txBox="1"/>
          <p:nvPr/>
        </p:nvSpPr>
        <p:spPr>
          <a:xfrm>
            <a:off x="2075688" y="3419856"/>
            <a:ext cx="1298448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950" b="1" i="0" noProof="0" dirty="0">
                <a:solidFill>
                  <a:srgbClr val="FFFFFF"/>
                </a:solidFill>
                <a:latin typeface="Calibri"/>
              </a:rPr>
              <a:t>1</a:t>
            </a:r>
            <a:r>
              <a:rPr lang="pt-BR" sz="950" b="1" dirty="0">
                <a:solidFill>
                  <a:srgbClr val="FFFFFF"/>
                </a:solidFill>
                <a:latin typeface="Calibri"/>
              </a:rPr>
              <a:t>4</a:t>
            </a:r>
            <a:r>
              <a:rPr lang="pt-BR" sz="950" b="1" i="0" noProof="0" dirty="0">
                <a:solidFill>
                  <a:srgbClr val="FFFFFF"/>
                </a:solidFill>
                <a:latin typeface="Calibri"/>
              </a:rPr>
              <a:t> tarefas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29583" y="2487168"/>
            <a:ext cx="73152" cy="182880"/>
          </a:xfrm>
          <a:prstGeom prst="rect">
            <a:avLst/>
          </a:prstGeom>
          <a:solidFill>
            <a:srgbClr val="2E4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0" name="Rectangle 19"/>
          <p:cNvSpPr/>
          <p:nvPr/>
        </p:nvSpPr>
        <p:spPr>
          <a:xfrm>
            <a:off x="3602736" y="749808"/>
            <a:ext cx="1572768" cy="640080"/>
          </a:xfrm>
          <a:prstGeom prst="rect">
            <a:avLst/>
          </a:prstGeom>
          <a:solidFill>
            <a:srgbClr val="F0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1" name="TextBox 20"/>
          <p:cNvSpPr txBox="1"/>
          <p:nvPr/>
        </p:nvSpPr>
        <p:spPr>
          <a:xfrm>
            <a:off x="3648456" y="804671"/>
            <a:ext cx="14813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b="1" i="0" noProof="0" dirty="0">
                <a:solidFill>
                  <a:srgbClr val="FFFFFF"/>
                </a:solidFill>
                <a:latin typeface="Calibri"/>
              </a:rPr>
              <a:t>SPRINT 1
Fazendo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02736" y="1389888"/>
            <a:ext cx="157276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3" name="TextBox 22"/>
          <p:cNvSpPr txBox="1"/>
          <p:nvPr/>
        </p:nvSpPr>
        <p:spPr>
          <a:xfrm>
            <a:off x="3657600" y="1527048"/>
            <a:ext cx="1463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Tarefas em
andamento (WIP)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39896" y="3419856"/>
            <a:ext cx="1298448" cy="274320"/>
          </a:xfrm>
          <a:prstGeom prst="rect">
            <a:avLst/>
          </a:prstGeom>
          <a:solidFill>
            <a:srgbClr val="F0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5" name="TextBox 24"/>
          <p:cNvSpPr txBox="1"/>
          <p:nvPr/>
        </p:nvSpPr>
        <p:spPr>
          <a:xfrm>
            <a:off x="3739896" y="3419856"/>
            <a:ext cx="1298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950" b="1" i="0" noProof="0" dirty="0">
                <a:solidFill>
                  <a:srgbClr val="FFFFFF"/>
                </a:solidFill>
                <a:latin typeface="Calibri"/>
              </a:rPr>
              <a:t>Max 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93792" y="2487168"/>
            <a:ext cx="73152" cy="182880"/>
          </a:xfrm>
          <a:prstGeom prst="rect">
            <a:avLst/>
          </a:prstGeom>
          <a:solidFill>
            <a:srgbClr val="2E4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7" name="Rectangle 26"/>
          <p:cNvSpPr/>
          <p:nvPr/>
        </p:nvSpPr>
        <p:spPr>
          <a:xfrm>
            <a:off x="5266944" y="749808"/>
            <a:ext cx="1572768" cy="640080"/>
          </a:xfrm>
          <a:prstGeom prst="rect">
            <a:avLst/>
          </a:prstGeom>
          <a:solidFill>
            <a:srgbClr val="4A7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8" name="TextBox 27"/>
          <p:cNvSpPr txBox="1"/>
          <p:nvPr/>
        </p:nvSpPr>
        <p:spPr>
          <a:xfrm>
            <a:off x="5312664" y="804671"/>
            <a:ext cx="14813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b="1" i="0" noProof="0" dirty="0">
                <a:solidFill>
                  <a:srgbClr val="FFFFFF"/>
                </a:solidFill>
                <a:latin typeface="Calibri"/>
              </a:rPr>
              <a:t>SPRINT 1
</a:t>
            </a:r>
            <a:r>
              <a:rPr lang="pt-BR" sz="1100" b="1" i="0" noProof="0" dirty="0" err="1">
                <a:solidFill>
                  <a:srgbClr val="FFFFFF"/>
                </a:solidFill>
                <a:latin typeface="Calibri"/>
              </a:rPr>
              <a:t>Concluido</a:t>
            </a:r>
            <a:endParaRPr lang="pt-BR" sz="1100" b="1" i="0" noProof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266944" y="1389888"/>
            <a:ext cx="157276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0" name="TextBox 29"/>
          <p:cNvSpPr txBox="1"/>
          <p:nvPr/>
        </p:nvSpPr>
        <p:spPr>
          <a:xfrm>
            <a:off x="5321807" y="1527048"/>
            <a:ext cx="1463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Tarefas entregues
e validadas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04104" y="3419856"/>
            <a:ext cx="1298448" cy="274320"/>
          </a:xfrm>
          <a:prstGeom prst="rect">
            <a:avLst/>
          </a:prstGeom>
          <a:solidFill>
            <a:srgbClr val="4A7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2" name="TextBox 31"/>
          <p:cNvSpPr txBox="1"/>
          <p:nvPr/>
        </p:nvSpPr>
        <p:spPr>
          <a:xfrm>
            <a:off x="5404104" y="3419856"/>
            <a:ext cx="1298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950" b="1" i="0" noProof="0" dirty="0">
                <a:solidFill>
                  <a:srgbClr val="FFFFFF"/>
                </a:solidFill>
                <a:latin typeface="Calibri"/>
              </a:rPr>
              <a:t>12 tarefas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7999" y="2487168"/>
            <a:ext cx="73152" cy="182880"/>
          </a:xfrm>
          <a:prstGeom prst="rect">
            <a:avLst/>
          </a:prstGeom>
          <a:solidFill>
            <a:srgbClr val="2E4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4" name="Rectangle 33"/>
          <p:cNvSpPr/>
          <p:nvPr/>
        </p:nvSpPr>
        <p:spPr>
          <a:xfrm>
            <a:off x="6931152" y="749808"/>
            <a:ext cx="1572768" cy="640080"/>
          </a:xfrm>
          <a:prstGeom prst="rect">
            <a:avLst/>
          </a:prstGeom>
          <a:solidFill>
            <a:srgbClr val="C2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5" name="TextBox 34"/>
          <p:cNvSpPr txBox="1"/>
          <p:nvPr/>
        </p:nvSpPr>
        <p:spPr>
          <a:xfrm>
            <a:off x="6976872" y="804671"/>
            <a:ext cx="14813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b="1" i="0" noProof="0" dirty="0">
                <a:solidFill>
                  <a:srgbClr val="FFFFFF"/>
                </a:solidFill>
                <a:latin typeface="Calibri"/>
              </a:rPr>
              <a:t>Cancelado /
Impedimento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31152" y="1389888"/>
            <a:ext cx="157276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7" name="TextBox 36"/>
          <p:cNvSpPr txBox="1"/>
          <p:nvPr/>
        </p:nvSpPr>
        <p:spPr>
          <a:xfrm>
            <a:off x="6986016" y="1527048"/>
            <a:ext cx="1463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Tarefas bloqueadas
ou canceladas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68312" y="3419856"/>
            <a:ext cx="1298448" cy="274320"/>
          </a:xfrm>
          <a:prstGeom prst="rect">
            <a:avLst/>
          </a:prstGeom>
          <a:solidFill>
            <a:srgbClr val="C2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9" name="TextBox 38"/>
          <p:cNvSpPr txBox="1"/>
          <p:nvPr/>
        </p:nvSpPr>
        <p:spPr>
          <a:xfrm>
            <a:off x="7068312" y="3419856"/>
            <a:ext cx="1298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950" b="1" i="0" noProof="0" dirty="0">
                <a:solidFill>
                  <a:srgbClr val="FFFFFF"/>
                </a:solidFill>
                <a:latin typeface="Calibri"/>
              </a:rPr>
              <a:t>1 (1.3.3)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4462272"/>
            <a:ext cx="8595360" cy="274320"/>
          </a:xfrm>
          <a:prstGeom prst="rect">
            <a:avLst/>
          </a:prstGeom>
          <a:solidFill>
            <a:srgbClr val="E8F4FD"/>
          </a:solidFill>
          <a:ln w="1016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1" name="TextBox 40"/>
          <p:cNvSpPr txBox="1"/>
          <p:nvPr/>
        </p:nvSpPr>
        <p:spPr>
          <a:xfrm>
            <a:off x="411480" y="4480560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00" b="0" i="0" noProof="0" dirty="0">
                <a:solidFill>
                  <a:srgbClr val="1C2B5E"/>
                </a:solidFill>
                <a:latin typeface="Calibri"/>
              </a:rPr>
              <a:t>Colunas adicionais: Backlog </a:t>
            </a:r>
            <a:r>
              <a:rPr lang="pt-BR" sz="900" b="0" i="0" noProof="0" dirty="0" err="1">
                <a:solidFill>
                  <a:srgbClr val="1C2B5E"/>
                </a:solidFill>
                <a:latin typeface="Calibri"/>
              </a:rPr>
              <a:t>Materia</a:t>
            </a:r>
            <a:r>
              <a:rPr lang="pt-BR" sz="900" b="0" i="0" noProof="0" dirty="0">
                <a:solidFill>
                  <a:srgbClr val="1C2B5E"/>
                </a:solidFill>
                <a:latin typeface="Calibri"/>
              </a:rPr>
              <a:t>  |  </a:t>
            </a:r>
            <a:r>
              <a:rPr lang="pt-BR" sz="900" b="0" i="0" noProof="0" dirty="0" err="1">
                <a:solidFill>
                  <a:srgbClr val="1C2B5E"/>
                </a:solidFill>
                <a:latin typeface="Calibri"/>
              </a:rPr>
              <a:t>Concluido</a:t>
            </a:r>
            <a:r>
              <a:rPr lang="pt-BR" sz="900" b="0" i="0" noProof="0" dirty="0">
                <a:solidFill>
                  <a:srgbClr val="1C2B5E"/>
                </a:solidFill>
                <a:latin typeface="Calibri"/>
              </a:rPr>
              <a:t> </a:t>
            </a:r>
            <a:r>
              <a:rPr lang="pt-BR" sz="900" b="0" i="0" noProof="0" dirty="0" err="1">
                <a:solidFill>
                  <a:srgbClr val="1C2B5E"/>
                </a:solidFill>
                <a:latin typeface="Calibri"/>
              </a:rPr>
              <a:t>Materia</a:t>
            </a:r>
            <a:r>
              <a:rPr lang="pt-BR" sz="900" b="0" i="0" noProof="0" dirty="0">
                <a:solidFill>
                  <a:srgbClr val="1C2B5E"/>
                </a:solidFill>
                <a:latin typeface="Calibri"/>
              </a:rPr>
              <a:t>  (entregas das atividades de aula — Lean Canvas, </a:t>
            </a:r>
            <a:r>
              <a:rPr lang="pt-BR" sz="900" b="0" i="0" noProof="0" dirty="0" err="1">
                <a:solidFill>
                  <a:srgbClr val="1C2B5E"/>
                </a:solidFill>
                <a:latin typeface="Calibri"/>
              </a:rPr>
              <a:t>Lab</a:t>
            </a:r>
            <a:r>
              <a:rPr lang="pt-BR" sz="900" b="0" i="0" noProof="0" dirty="0">
                <a:solidFill>
                  <a:srgbClr val="1C2B5E"/>
                </a:solidFill>
                <a:latin typeface="Calibri"/>
              </a:rPr>
              <a:t> 02-05)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C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3" name="TextBox 42"/>
          <p:cNvSpPr txBox="1"/>
          <p:nvPr/>
        </p:nvSpPr>
        <p:spPr>
          <a:xfrm>
            <a:off x="274320" y="4901184"/>
            <a:ext cx="6858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00" b="0" i="0" noProof="0" dirty="0" err="1">
                <a:solidFill>
                  <a:srgbClr val="FFFFFF"/>
                </a:solidFill>
                <a:latin typeface="Calibri"/>
              </a:rPr>
              <a:t>I-Deal</a:t>
            </a:r>
            <a:r>
              <a:rPr lang="pt-BR" sz="900" b="0" i="0" noProof="0" dirty="0">
                <a:solidFill>
                  <a:srgbClr val="FFFFFF"/>
                </a:solidFill>
                <a:latin typeface="Calibri"/>
              </a:rPr>
              <a:t>  ·  Sprint 1 Review  ·  CC7540 – Laboratório Noturno 760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0" y="4901184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sz="900" b="0" i="0" noProof="0" dirty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09728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600" b="1" i="0" noProof="0" dirty="0">
                <a:solidFill>
                  <a:srgbClr val="1C2B5E"/>
                </a:solidFill>
                <a:latin typeface="Georgia"/>
              </a:rPr>
              <a:t>04 · Evidência de Execução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0" y="109728"/>
            <a:ext cx="2834640" cy="411480"/>
          </a:xfrm>
          <a:prstGeom prst="rect">
            <a:avLst/>
          </a:prstGeom>
          <a:solidFill>
            <a:srgbClr val="1C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6053328" y="128016"/>
            <a:ext cx="27980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300" b="1" i="0" noProof="0" dirty="0">
                <a:solidFill>
                  <a:srgbClr val="FFFFFF"/>
                </a:solidFill>
                <a:latin typeface="Calibri"/>
              </a:rPr>
              <a:t>Momento 1 – Inicio da Sprint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594360"/>
            <a:ext cx="8321040" cy="9144"/>
          </a:xfrm>
          <a:prstGeom prst="rect">
            <a:avLst/>
          </a:prstGeom>
          <a:solidFill>
            <a:srgbClr val="2E4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8321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100" b="0" i="0" noProof="0" dirty="0">
                <a:solidFill>
                  <a:srgbClr val="333333"/>
                </a:solidFill>
                <a:latin typeface="Calibri"/>
              </a:rPr>
              <a:t>07/03/2026 — inicio da Sprint 1  |  Capacidade: 224h  |  Equipe: 4 membros</a:t>
            </a:r>
          </a:p>
        </p:txBody>
      </p:sp>
      <p:sp>
        <p:nvSpPr>
          <p:cNvPr id="7" name="Rectangle 6"/>
          <p:cNvSpPr/>
          <p:nvPr/>
        </p:nvSpPr>
        <p:spPr>
          <a:xfrm>
            <a:off x="1260728" y="960120"/>
            <a:ext cx="6622543" cy="3200400"/>
          </a:xfrm>
          <a:prstGeom prst="rect">
            <a:avLst/>
          </a:prstGeom>
          <a:solidFill>
            <a:srgbClr val="F0EFEA"/>
          </a:solidFill>
          <a:ln w="1524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9" name="Rectangle 8"/>
          <p:cNvSpPr/>
          <p:nvPr/>
        </p:nvSpPr>
        <p:spPr>
          <a:xfrm>
            <a:off x="274320" y="4251960"/>
            <a:ext cx="2045970" cy="502920"/>
          </a:xfrm>
          <a:prstGeom prst="rect">
            <a:avLst/>
          </a:prstGeom>
          <a:solidFill>
            <a:srgbClr val="1C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347472" y="4270248"/>
            <a:ext cx="189966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850" b="0" i="0" noProof="0" dirty="0">
                <a:solidFill>
                  <a:srgbClr val="FFFFFF"/>
                </a:solidFill>
                <a:latin typeface="Calibri"/>
              </a:rPr>
              <a:t>Backlog Projeto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4453128"/>
            <a:ext cx="189966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b="1" i="0" noProof="0" dirty="0">
                <a:solidFill>
                  <a:srgbClr val="FFFFFF"/>
                </a:solidFill>
                <a:latin typeface="Calibri"/>
              </a:rPr>
              <a:t>5 US mapeadas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57450" y="4251960"/>
            <a:ext cx="2045970" cy="502920"/>
          </a:xfrm>
          <a:prstGeom prst="rect">
            <a:avLst/>
          </a:prstGeom>
          <a:solidFill>
            <a:srgbClr val="2E4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2530602" y="4270248"/>
            <a:ext cx="189966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850" b="0" i="0" noProof="0" dirty="0">
                <a:solidFill>
                  <a:srgbClr val="FFFFFF"/>
                </a:solidFill>
                <a:latin typeface="Calibri"/>
              </a:rPr>
              <a:t>A Fazer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30602" y="4453128"/>
            <a:ext cx="189966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b="1" i="0" noProof="0" dirty="0">
                <a:solidFill>
                  <a:srgbClr val="FFFFFF"/>
                </a:solidFill>
                <a:latin typeface="Calibri"/>
              </a:rPr>
              <a:t>1</a:t>
            </a:r>
            <a:r>
              <a:rPr lang="pt-BR" sz="1100" b="1" dirty="0">
                <a:solidFill>
                  <a:srgbClr val="FFFFFF"/>
                </a:solidFill>
                <a:latin typeface="Calibri"/>
              </a:rPr>
              <a:t>4</a:t>
            </a:r>
            <a:r>
              <a:rPr lang="pt-BR" sz="1100" b="1" i="0" noProof="0" dirty="0">
                <a:solidFill>
                  <a:srgbClr val="FFFFFF"/>
                </a:solidFill>
                <a:latin typeface="Calibri"/>
              </a:rPr>
              <a:t> tarefas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40580" y="4251960"/>
            <a:ext cx="2045970" cy="502920"/>
          </a:xfrm>
          <a:prstGeom prst="rect">
            <a:avLst/>
          </a:prstGeom>
          <a:solidFill>
            <a:srgbClr val="C88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4713732" y="4270248"/>
            <a:ext cx="189966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850" b="0" i="0" noProof="0" dirty="0">
                <a:solidFill>
                  <a:srgbClr val="FFFFFF"/>
                </a:solidFill>
                <a:latin typeface="Calibri"/>
              </a:rPr>
              <a:t>Fazendo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13732" y="4453128"/>
            <a:ext cx="189966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b="1" i="0" noProof="0" dirty="0">
                <a:solidFill>
                  <a:srgbClr val="FFFFFF"/>
                </a:solidFill>
                <a:latin typeface="Calibri"/>
              </a:rPr>
              <a:t>0 em andamento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23710" y="4251960"/>
            <a:ext cx="2045970" cy="502920"/>
          </a:xfrm>
          <a:prstGeom prst="rect">
            <a:avLst/>
          </a:prstGeom>
          <a:solidFill>
            <a:srgbClr val="386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9" name="TextBox 18"/>
          <p:cNvSpPr txBox="1"/>
          <p:nvPr/>
        </p:nvSpPr>
        <p:spPr>
          <a:xfrm>
            <a:off x="6896862" y="4270248"/>
            <a:ext cx="189966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850" b="0" i="0" noProof="0" dirty="0">
                <a:solidFill>
                  <a:srgbClr val="FFFFFF"/>
                </a:solidFill>
                <a:latin typeface="Calibri"/>
              </a:rPr>
              <a:t>Concluído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96862" y="4453128"/>
            <a:ext cx="189966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b="1" i="0" noProof="0" dirty="0">
                <a:solidFill>
                  <a:srgbClr val="FFFFFF"/>
                </a:solidFill>
                <a:latin typeface="Calibri"/>
              </a:rPr>
              <a:t>0 entregues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C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2" name="TextBox 21"/>
          <p:cNvSpPr txBox="1"/>
          <p:nvPr/>
        </p:nvSpPr>
        <p:spPr>
          <a:xfrm>
            <a:off x="274320" y="4901184"/>
            <a:ext cx="6858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00" b="0" i="0" noProof="0" dirty="0" err="1">
                <a:solidFill>
                  <a:srgbClr val="FFFFFF"/>
                </a:solidFill>
                <a:latin typeface="Calibri"/>
              </a:rPr>
              <a:t>I-Deal</a:t>
            </a:r>
            <a:r>
              <a:rPr lang="pt-BR" sz="900" b="0" i="0" noProof="0" dirty="0">
                <a:solidFill>
                  <a:srgbClr val="FFFFFF"/>
                </a:solidFill>
                <a:latin typeface="Calibri"/>
              </a:rPr>
              <a:t>  ·  Sprint 1 Review  ·  CC7540 – Laboratório Noturno 760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4901184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sz="900" b="0" i="0" noProof="0" dirty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3A78C391-02DD-4AEC-33E2-71AC8CC3A5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0729" y="967047"/>
            <a:ext cx="6622542" cy="319347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09728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600" b="1" i="0" noProof="0" dirty="0">
                <a:solidFill>
                  <a:srgbClr val="1C2B5E"/>
                </a:solidFill>
                <a:latin typeface="Georgia"/>
              </a:rPr>
              <a:t>04 · Evidência de Execução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0" y="109728"/>
            <a:ext cx="2834640" cy="411480"/>
          </a:xfrm>
          <a:prstGeom prst="rect">
            <a:avLst/>
          </a:prstGeom>
          <a:solidFill>
            <a:srgbClr val="F0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6053328" y="128016"/>
            <a:ext cx="27980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300" b="1" i="0" noProof="0" dirty="0">
                <a:solidFill>
                  <a:srgbClr val="FFFFFF"/>
                </a:solidFill>
                <a:latin typeface="Calibri"/>
              </a:rPr>
              <a:t>Momento 2 – Meio da Sprint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594360"/>
            <a:ext cx="8321040" cy="9144"/>
          </a:xfrm>
          <a:prstGeom prst="rect">
            <a:avLst/>
          </a:prstGeom>
          <a:solidFill>
            <a:srgbClr val="2E4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8321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100" b="0" i="0" noProof="0" dirty="0">
                <a:solidFill>
                  <a:srgbClr val="333333"/>
                </a:solidFill>
                <a:latin typeface="Calibri"/>
              </a:rPr>
              <a:t>13/03/2026 — semana 2  |  </a:t>
            </a:r>
            <a:r>
              <a:rPr lang="pt-BR" sz="1100" b="0" i="0" noProof="0" dirty="0" err="1">
                <a:solidFill>
                  <a:srgbClr val="333333"/>
                </a:solidFill>
                <a:latin typeface="Calibri"/>
              </a:rPr>
              <a:t>Dailies</a:t>
            </a:r>
            <a:r>
              <a:rPr lang="pt-BR" sz="1100" b="0" i="0" noProof="0" dirty="0">
                <a:solidFill>
                  <a:srgbClr val="333333"/>
                </a:solidFill>
                <a:latin typeface="Calibri"/>
              </a:rPr>
              <a:t> entregues  |  Impedimento 1.3.3 registrado</a:t>
            </a:r>
          </a:p>
        </p:txBody>
      </p:sp>
      <p:pic>
        <p:nvPicPr>
          <p:cNvPr id="7" name="Picture 6" descr="trello_me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0079" y="960120"/>
            <a:ext cx="5703841" cy="32004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4251960"/>
            <a:ext cx="2773680" cy="502920"/>
          </a:xfrm>
          <a:prstGeom prst="rect">
            <a:avLst/>
          </a:prstGeom>
          <a:solidFill>
            <a:srgbClr val="C2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347472" y="4270248"/>
            <a:ext cx="262737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850" b="0" i="0" noProof="0" dirty="0">
                <a:solidFill>
                  <a:srgbClr val="FFFFFF"/>
                </a:solidFill>
                <a:latin typeface="Calibri"/>
              </a:rPr>
              <a:t>Impedimento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4453128"/>
            <a:ext cx="262737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b="1" i="0" noProof="0" dirty="0">
                <a:solidFill>
                  <a:srgbClr val="FFFFFF"/>
                </a:solidFill>
                <a:latin typeface="Calibri"/>
              </a:rPr>
              <a:t>1.3.3 — API fora do ar (1 dia)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85159" y="4251960"/>
            <a:ext cx="2773680" cy="502920"/>
          </a:xfrm>
          <a:prstGeom prst="rect">
            <a:avLst/>
          </a:prstGeom>
          <a:solidFill>
            <a:srgbClr val="C88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3258311" y="4270248"/>
            <a:ext cx="262737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850" b="0" i="0" noProof="0" dirty="0">
                <a:solidFill>
                  <a:srgbClr val="FFFFFF"/>
                </a:solidFill>
                <a:latin typeface="Calibri"/>
              </a:rPr>
              <a:t>Em Fazendo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58311" y="4453128"/>
            <a:ext cx="262737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b="1" i="0" noProof="0" dirty="0">
                <a:solidFill>
                  <a:srgbClr val="FFFFFF"/>
                </a:solidFill>
                <a:latin typeface="Calibri"/>
              </a:rPr>
              <a:t>3.4 (Henrique), 2.3.2 (Matheus)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5999" y="4251960"/>
            <a:ext cx="2773680" cy="502920"/>
          </a:xfrm>
          <a:prstGeom prst="rect">
            <a:avLst/>
          </a:prstGeom>
          <a:solidFill>
            <a:srgbClr val="386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6169151" y="4270248"/>
            <a:ext cx="262737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850" b="0" i="0" noProof="0" dirty="0" err="1">
                <a:solidFill>
                  <a:srgbClr val="FFFFFF"/>
                </a:solidFill>
                <a:latin typeface="Calibri"/>
              </a:rPr>
              <a:t>Concluido</a:t>
            </a:r>
            <a:endParaRPr lang="pt-BR" sz="850" b="0" i="0" noProof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169151" y="4453128"/>
            <a:ext cx="262737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b="1" i="0" noProof="0" dirty="0">
                <a:solidFill>
                  <a:srgbClr val="FFFFFF"/>
                </a:solidFill>
                <a:latin typeface="Calibri"/>
              </a:rPr>
              <a:t>1.1 / 1.2 / 1.3.1-3 / 1.4 / 1.5 / 3.1 / 3.2 / 2.3.1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C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8" name="TextBox 17"/>
          <p:cNvSpPr txBox="1"/>
          <p:nvPr/>
        </p:nvSpPr>
        <p:spPr>
          <a:xfrm>
            <a:off x="274320" y="4901184"/>
            <a:ext cx="6858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00" b="0" i="0" noProof="0" dirty="0" err="1">
                <a:solidFill>
                  <a:srgbClr val="FFFFFF"/>
                </a:solidFill>
                <a:latin typeface="Calibri"/>
              </a:rPr>
              <a:t>I-Deal</a:t>
            </a:r>
            <a:r>
              <a:rPr lang="pt-BR" sz="900" b="0" i="0" noProof="0" dirty="0">
                <a:solidFill>
                  <a:srgbClr val="FFFFFF"/>
                </a:solidFill>
                <a:latin typeface="Calibri"/>
              </a:rPr>
              <a:t>  ·  Sprint 1 Review  ·  CC7540 – Laboratório Noturno 760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4901184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sz="900" b="0" i="0" noProof="0" dirty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09728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600" b="1" i="0" noProof="0" dirty="0">
                <a:solidFill>
                  <a:srgbClr val="1C2B5E"/>
                </a:solidFill>
                <a:latin typeface="Georgia"/>
              </a:rPr>
              <a:t>04 · Evidência de Execução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0" y="109728"/>
            <a:ext cx="2834640" cy="411480"/>
          </a:xfrm>
          <a:prstGeom prst="rect">
            <a:avLst/>
          </a:prstGeom>
          <a:solidFill>
            <a:srgbClr val="4A7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6053328" y="128016"/>
            <a:ext cx="27980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300" b="1" i="0" noProof="0" dirty="0">
                <a:solidFill>
                  <a:srgbClr val="FFFFFF"/>
                </a:solidFill>
                <a:latin typeface="Calibri"/>
              </a:rPr>
              <a:t>Momento 3 – Fim da Sprint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594360"/>
            <a:ext cx="8321040" cy="9144"/>
          </a:xfrm>
          <a:prstGeom prst="rect">
            <a:avLst/>
          </a:prstGeom>
          <a:solidFill>
            <a:srgbClr val="2E4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8321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100" b="0" i="0" noProof="0" dirty="0">
                <a:solidFill>
                  <a:srgbClr val="333333"/>
                </a:solidFill>
                <a:latin typeface="Calibri"/>
              </a:rPr>
              <a:t>21/03/2026 — encerramento oficial da Sprint 1  |  Sprint 2 iniciada em 28/03</a:t>
            </a:r>
          </a:p>
        </p:txBody>
      </p:sp>
      <p:pic>
        <p:nvPicPr>
          <p:cNvPr id="7" name="Picture 6" descr="trello_fin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882" y="960120"/>
            <a:ext cx="6942234" cy="32004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4251960"/>
            <a:ext cx="2045970" cy="502920"/>
          </a:xfrm>
          <a:prstGeom prst="rect">
            <a:avLst/>
          </a:prstGeom>
          <a:solidFill>
            <a:srgbClr val="4A7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347472" y="4270248"/>
            <a:ext cx="189966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850" b="0" i="0" noProof="0" dirty="0" err="1">
                <a:solidFill>
                  <a:srgbClr val="FFFFFF"/>
                </a:solidFill>
                <a:latin typeface="Calibri"/>
              </a:rPr>
              <a:t>Concluido</a:t>
            </a:r>
            <a:endParaRPr lang="pt-BR" sz="850" b="0" i="0" noProof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47472" y="4453128"/>
            <a:ext cx="189966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b="1" i="0" noProof="0" dirty="0">
                <a:solidFill>
                  <a:srgbClr val="FFFFFF"/>
                </a:solidFill>
                <a:latin typeface="Calibri"/>
              </a:rPr>
              <a:t>12 / 1</a:t>
            </a:r>
            <a:r>
              <a:rPr lang="pt-BR" sz="1100" b="1" dirty="0">
                <a:solidFill>
                  <a:srgbClr val="FFFFFF"/>
                </a:solidFill>
                <a:latin typeface="Calibri"/>
              </a:rPr>
              <a:t>4</a:t>
            </a:r>
            <a:r>
              <a:rPr lang="pt-BR" sz="1100" b="1" i="0" noProof="0" dirty="0">
                <a:solidFill>
                  <a:srgbClr val="FFFFFF"/>
                </a:solidFill>
                <a:latin typeface="Calibri"/>
              </a:rPr>
              <a:t> tarefas entregues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57450" y="4251960"/>
            <a:ext cx="2045970" cy="502920"/>
          </a:xfrm>
          <a:prstGeom prst="rect">
            <a:avLst/>
          </a:prstGeom>
          <a:solidFill>
            <a:srgbClr val="C2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2530602" y="4270248"/>
            <a:ext cx="189966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850" b="0" i="0" noProof="0" dirty="0">
                <a:solidFill>
                  <a:srgbClr val="FFFFFF"/>
                </a:solidFill>
                <a:latin typeface="Calibri"/>
              </a:rPr>
              <a:t>Cancelado/</a:t>
            </a:r>
            <a:r>
              <a:rPr lang="pt-BR" sz="850" b="0" i="0" noProof="0" dirty="0" err="1">
                <a:solidFill>
                  <a:srgbClr val="FFFFFF"/>
                </a:solidFill>
                <a:latin typeface="Calibri"/>
              </a:rPr>
              <a:t>Imped</a:t>
            </a:r>
            <a:r>
              <a:rPr lang="pt-BR" sz="850" b="0" i="0" noProof="0" dirty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30602" y="4453128"/>
            <a:ext cx="189966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b="1" i="0" noProof="0" dirty="0">
                <a:solidFill>
                  <a:srgbClr val="FFFFFF"/>
                </a:solidFill>
                <a:latin typeface="Calibri"/>
              </a:rPr>
              <a:t>1.3.3 (atraso 1 dia — doc.)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40580" y="4251960"/>
            <a:ext cx="2045970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4713732" y="4270248"/>
            <a:ext cx="189966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850" b="0" i="0" noProof="0" dirty="0">
                <a:solidFill>
                  <a:srgbClr val="FFFFFF"/>
                </a:solidFill>
                <a:latin typeface="Calibri"/>
              </a:rPr>
              <a:t>Sprint 2 Fazendo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13732" y="4453128"/>
            <a:ext cx="189966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b="1" i="0" noProof="0" dirty="0">
                <a:solidFill>
                  <a:srgbClr val="FFFFFF"/>
                </a:solidFill>
                <a:latin typeface="Calibri"/>
              </a:rPr>
              <a:t>2.1 e 2.2 </a:t>
            </a:r>
            <a:r>
              <a:rPr lang="pt-BR" sz="1100" b="1" i="0" noProof="0" dirty="0" err="1">
                <a:solidFill>
                  <a:srgbClr val="FFFFFF"/>
                </a:solidFill>
                <a:latin typeface="Calibri"/>
              </a:rPr>
              <a:t>ja</a:t>
            </a:r>
            <a:r>
              <a:rPr lang="pt-BR" sz="1100" b="1" i="0" noProof="0" dirty="0">
                <a:solidFill>
                  <a:srgbClr val="FFFFFF"/>
                </a:solidFill>
                <a:latin typeface="Calibri"/>
              </a:rPr>
              <a:t> em andamento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23710" y="4251960"/>
            <a:ext cx="2045970" cy="502920"/>
          </a:xfrm>
          <a:prstGeom prst="rect">
            <a:avLst/>
          </a:prstGeom>
          <a:solidFill>
            <a:srgbClr val="1C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8" name="TextBox 17"/>
          <p:cNvSpPr txBox="1"/>
          <p:nvPr/>
        </p:nvSpPr>
        <p:spPr>
          <a:xfrm>
            <a:off x="6896862" y="4270248"/>
            <a:ext cx="189966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850" b="0" i="0" noProof="0" dirty="0">
                <a:solidFill>
                  <a:srgbClr val="FFFFFF"/>
                </a:solidFill>
                <a:latin typeface="Calibri"/>
              </a:rPr>
              <a:t>Taxa de entrega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96862" y="4453128"/>
            <a:ext cx="189966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b="1" dirty="0">
                <a:solidFill>
                  <a:srgbClr val="FFFFFF"/>
                </a:solidFill>
                <a:latin typeface="Calibri"/>
              </a:rPr>
              <a:t>86</a:t>
            </a:r>
            <a:r>
              <a:rPr lang="pt-BR" sz="1100" b="1" i="0" noProof="0" dirty="0">
                <a:solidFill>
                  <a:srgbClr val="FFFFFF"/>
                </a:solidFill>
                <a:latin typeface="Calibri"/>
              </a:rPr>
              <a:t> 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C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1" name="TextBox 20"/>
          <p:cNvSpPr txBox="1"/>
          <p:nvPr/>
        </p:nvSpPr>
        <p:spPr>
          <a:xfrm>
            <a:off x="274320" y="4901184"/>
            <a:ext cx="6858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00" b="0" i="0" noProof="0" dirty="0" err="1">
                <a:solidFill>
                  <a:srgbClr val="FFFFFF"/>
                </a:solidFill>
                <a:latin typeface="Calibri"/>
              </a:rPr>
              <a:t>I-Deal</a:t>
            </a:r>
            <a:r>
              <a:rPr lang="pt-BR" sz="900" b="0" i="0" noProof="0" dirty="0">
                <a:solidFill>
                  <a:srgbClr val="FFFFFF"/>
                </a:solidFill>
                <a:latin typeface="Calibri"/>
              </a:rPr>
              <a:t>  ·  Sprint 1 Review  ·  CC7540 – Laboratório Noturno 760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4901184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sz="900" b="0" i="0" noProof="0" dirty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37160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800" b="1" i="0" noProof="0" dirty="0">
                <a:solidFill>
                  <a:srgbClr val="1C2B5E"/>
                </a:solidFill>
                <a:latin typeface="Georgia"/>
              </a:rPr>
              <a:t>05 · Entrega da Sprint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58368"/>
            <a:ext cx="8321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400" b="0" i="0" noProof="0" dirty="0">
                <a:solidFill>
                  <a:srgbClr val="333333"/>
                </a:solidFill>
                <a:latin typeface="Calibri"/>
              </a:rPr>
              <a:t>O que foi Implementado e Entregue no MVP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8321040" cy="9144"/>
          </a:xfrm>
          <a:prstGeom prst="rect">
            <a:avLst/>
          </a:prstGeom>
          <a:solidFill>
            <a:srgbClr val="2E4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2011680" cy="347472"/>
          </a:xfrm>
          <a:prstGeom prst="rect">
            <a:avLst/>
          </a:prstGeom>
          <a:solidFill>
            <a:srgbClr val="1C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347472" y="1115568"/>
            <a:ext cx="187451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FFFFFF"/>
                </a:solidFill>
                <a:latin typeface="Calibri"/>
              </a:rPr>
              <a:t>Isabella Rosseto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6" y="1266323"/>
            <a:ext cx="224028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850" b="0" i="0" noProof="0" dirty="0">
                <a:solidFill>
                  <a:srgbClr val="FFFFFF"/>
                </a:solidFill>
                <a:latin typeface="Calibri"/>
              </a:rPr>
              <a:t>BD + Back-</a:t>
            </a:r>
            <a:r>
              <a:rPr lang="pt-BR" sz="850" b="0" i="0" noProof="0" dirty="0" err="1">
                <a:solidFill>
                  <a:srgbClr val="FFFFFF"/>
                </a:solidFill>
                <a:latin typeface="Calibri"/>
              </a:rPr>
              <a:t>end</a:t>
            </a:r>
            <a:r>
              <a:rPr lang="pt-BR" sz="850" b="0" i="0" noProof="0" dirty="0">
                <a:solidFill>
                  <a:srgbClr val="FFFFFF"/>
                </a:solidFill>
                <a:latin typeface="Calibri"/>
              </a:rPr>
              <a:t> (1.1 / 1.2 / 1.3.1 / 1.3.2 / 1.3.3)</a:t>
            </a:r>
          </a:p>
        </p:txBody>
      </p:sp>
      <p:sp>
        <p:nvSpPr>
          <p:cNvPr id="8" name="Rectangle 7"/>
          <p:cNvSpPr/>
          <p:nvPr/>
        </p:nvSpPr>
        <p:spPr>
          <a:xfrm>
            <a:off x="2450591" y="1097280"/>
            <a:ext cx="2011680" cy="347472"/>
          </a:xfrm>
          <a:prstGeom prst="rect">
            <a:avLst/>
          </a:prstGeom>
          <a:solidFill>
            <a:srgbClr val="2E4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2523744" y="1115568"/>
            <a:ext cx="18745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FFFFFF"/>
                </a:solidFill>
                <a:latin typeface="Calibri"/>
              </a:rPr>
              <a:t>Gustavo </a:t>
            </a:r>
            <a:r>
              <a:rPr lang="pt-BR" sz="1000" b="1" i="0" noProof="0" dirty="0" err="1">
                <a:solidFill>
                  <a:srgbClr val="FFFFFF"/>
                </a:solidFill>
                <a:latin typeface="Calibri"/>
              </a:rPr>
              <a:t>Bertoluzzi</a:t>
            </a:r>
            <a:endParaRPr lang="pt-BR" sz="1000" b="1" i="0" noProof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23744" y="1280160"/>
            <a:ext cx="18745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850" b="0" i="0" noProof="0" dirty="0">
                <a:solidFill>
                  <a:srgbClr val="FFFFFF"/>
                </a:solidFill>
                <a:latin typeface="Calibri"/>
              </a:rPr>
              <a:t>Front-</a:t>
            </a:r>
            <a:r>
              <a:rPr lang="pt-BR" sz="850" b="0" i="0" noProof="0" dirty="0" err="1">
                <a:solidFill>
                  <a:srgbClr val="FFFFFF"/>
                </a:solidFill>
                <a:latin typeface="Calibri"/>
              </a:rPr>
              <a:t>end</a:t>
            </a:r>
            <a:r>
              <a:rPr lang="pt-BR" sz="850" b="0" i="0" noProof="0" dirty="0">
                <a:solidFill>
                  <a:srgbClr val="FFFFFF"/>
                </a:solidFill>
                <a:latin typeface="Calibri"/>
              </a:rPr>
              <a:t> + BD (1.4 / 1.5)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26864" y="1097280"/>
            <a:ext cx="2011680" cy="34747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4700016" y="1115568"/>
            <a:ext cx="18745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FFFFFF"/>
                </a:solidFill>
                <a:latin typeface="Calibri"/>
              </a:rPr>
              <a:t>Henrique </a:t>
            </a:r>
            <a:r>
              <a:rPr lang="pt-BR" sz="1000" b="1" i="0" noProof="0" dirty="0" err="1">
                <a:solidFill>
                  <a:srgbClr val="FFFFFF"/>
                </a:solidFill>
                <a:latin typeface="Calibri"/>
              </a:rPr>
              <a:t>Babler</a:t>
            </a:r>
            <a:endParaRPr lang="pt-BR" sz="1000" b="1" i="0" noProof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700016" y="1280160"/>
            <a:ext cx="18745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850" b="0" i="0" noProof="0" dirty="0">
                <a:solidFill>
                  <a:srgbClr val="FFFFFF"/>
                </a:solidFill>
                <a:latin typeface="Calibri"/>
              </a:rPr>
              <a:t>Queries + Interface (3.1 / 3.2 / 3.4 / 1.5)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03136" y="1097280"/>
            <a:ext cx="2011680" cy="347472"/>
          </a:xfrm>
          <a:prstGeom prst="rect">
            <a:avLst/>
          </a:prstGeom>
          <a:solidFill>
            <a:srgbClr val="4A7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6876288" y="1115568"/>
            <a:ext cx="18745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FFFFFF"/>
                </a:solidFill>
                <a:latin typeface="Calibri"/>
              </a:rPr>
              <a:t>Matheus Freitas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6288" y="1280160"/>
            <a:ext cx="18745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850" b="0" i="0" noProof="0" dirty="0">
                <a:solidFill>
                  <a:srgbClr val="FFFFFF"/>
                </a:solidFill>
                <a:latin typeface="Calibri"/>
              </a:rPr>
              <a:t>Redirecionamento (2.3.1 / 2.3.2)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536192"/>
            <a:ext cx="41605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8" name="Rectangle 17"/>
          <p:cNvSpPr/>
          <p:nvPr/>
        </p:nvSpPr>
        <p:spPr>
          <a:xfrm>
            <a:off x="274320" y="1536192"/>
            <a:ext cx="4160520" cy="347472"/>
          </a:xfrm>
          <a:prstGeom prst="rect">
            <a:avLst/>
          </a:prstGeom>
          <a:solidFill>
            <a:srgbClr val="1C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9" name="TextBox 18"/>
          <p:cNvSpPr txBox="1"/>
          <p:nvPr/>
        </p:nvSpPr>
        <p:spPr>
          <a:xfrm>
            <a:off x="365760" y="1581912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150" b="1" i="0" noProof="0" dirty="0">
                <a:solidFill>
                  <a:srgbClr val="FFFFFF"/>
                </a:solidFill>
                <a:latin typeface="Calibri"/>
              </a:rPr>
              <a:t>BD + Back-</a:t>
            </a:r>
            <a:r>
              <a:rPr lang="pt-BR" sz="1150" b="1" i="0" noProof="0" dirty="0" err="1">
                <a:solidFill>
                  <a:srgbClr val="FFFFFF"/>
                </a:solidFill>
                <a:latin typeface="Calibri"/>
              </a:rPr>
              <a:t>end</a:t>
            </a:r>
            <a:r>
              <a:rPr lang="pt-BR" sz="1150" b="1" i="0" noProof="0" dirty="0">
                <a:solidFill>
                  <a:srgbClr val="FFFFFF"/>
                </a:solidFill>
                <a:latin typeface="Calibri"/>
              </a:rPr>
              <a:t>  —  Isabella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1956816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4A7C3F"/>
                </a:solidFill>
                <a:latin typeface="Calibri"/>
              </a:rPr>
              <a:t>v  1.1 / 1.2: Classes de Login e Cadastro com </a:t>
            </a:r>
            <a:r>
              <a:rPr lang="pt-BR" sz="1000" b="0" i="0" noProof="0" dirty="0" err="1">
                <a:solidFill>
                  <a:srgbClr val="4A7C3F"/>
                </a:solidFill>
                <a:latin typeface="Calibri"/>
              </a:rPr>
              <a:t>hash</a:t>
            </a:r>
            <a:r>
              <a:rPr lang="pt-BR" sz="1000" b="0" i="0" noProof="0" dirty="0">
                <a:solidFill>
                  <a:srgbClr val="4A7C3F"/>
                </a:solidFill>
                <a:latin typeface="Calibri"/>
              </a:rPr>
              <a:t> seguro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2231136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4A7C3F"/>
                </a:solidFill>
                <a:latin typeface="Calibri"/>
              </a:rPr>
              <a:t>v  1.3.1 / 1.3.2: Tabelas de </a:t>
            </a:r>
            <a:r>
              <a:rPr lang="pt-BR" sz="1000" b="0" i="0" noProof="0" dirty="0" err="1">
                <a:solidFill>
                  <a:srgbClr val="4A7C3F"/>
                </a:solidFill>
                <a:latin typeface="Calibri"/>
              </a:rPr>
              <a:t>Usuarios</a:t>
            </a:r>
            <a:r>
              <a:rPr lang="pt-BR" sz="1000" b="0" i="0" noProof="0" dirty="0">
                <a:solidFill>
                  <a:srgbClr val="4A7C3F"/>
                </a:solidFill>
                <a:latin typeface="Calibri"/>
              </a:rPr>
              <a:t> e Jogos (</a:t>
            </a:r>
            <a:r>
              <a:rPr lang="pt-BR" sz="1000" b="0" i="0" noProof="0" dirty="0" err="1">
                <a:solidFill>
                  <a:srgbClr val="4A7C3F"/>
                </a:solidFill>
                <a:latin typeface="Calibri"/>
              </a:rPr>
              <a:t>SQLite</a:t>
            </a:r>
            <a:r>
              <a:rPr lang="pt-BR" sz="1000" b="0" i="0" noProof="0" dirty="0">
                <a:solidFill>
                  <a:srgbClr val="4A7C3F"/>
                </a:solidFill>
                <a:latin typeface="Calibri"/>
              </a:rPr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2505456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4A7C3F"/>
                </a:solidFill>
                <a:latin typeface="Calibri"/>
              </a:rPr>
              <a:t>v  1.3.3: Tabela de </a:t>
            </a:r>
            <a:r>
              <a:rPr lang="pt-BR" sz="1000" b="0" i="0" noProof="0" dirty="0" err="1">
                <a:solidFill>
                  <a:srgbClr val="4A7C3F"/>
                </a:solidFill>
                <a:latin typeface="Calibri"/>
              </a:rPr>
              <a:t>Precos</a:t>
            </a:r>
            <a:r>
              <a:rPr lang="pt-BR" sz="1000" b="0" i="0" noProof="0" dirty="0">
                <a:solidFill>
                  <a:srgbClr val="4A7C3F"/>
                </a:solidFill>
                <a:latin typeface="Calibri"/>
              </a:rPr>
              <a:t> (1 dia de atraso — API </a:t>
            </a:r>
            <a:r>
              <a:rPr lang="pt-BR" sz="1000" b="0" i="0" noProof="0" dirty="0" err="1">
                <a:solidFill>
                  <a:srgbClr val="4A7C3F"/>
                </a:solidFill>
                <a:latin typeface="Calibri"/>
              </a:rPr>
              <a:t>indisponivel</a:t>
            </a:r>
            <a:r>
              <a:rPr lang="pt-BR" sz="1000" b="0" i="0" noProof="0" dirty="0">
                <a:solidFill>
                  <a:srgbClr val="4A7C3F"/>
                </a:solidFill>
                <a:latin typeface="Calibri"/>
              </a:rPr>
              <a:t>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2779776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4A7C3F"/>
                </a:solidFill>
                <a:latin typeface="Calibri"/>
              </a:rPr>
              <a:t>v  </a:t>
            </a:r>
            <a:r>
              <a:rPr lang="pt-BR" sz="1000" b="0" i="0" noProof="0" dirty="0" err="1">
                <a:solidFill>
                  <a:srgbClr val="4A7C3F"/>
                </a:solidFill>
                <a:latin typeface="Calibri"/>
              </a:rPr>
              <a:t>Sessoes</a:t>
            </a:r>
            <a:r>
              <a:rPr lang="pt-BR" sz="1000" b="0" i="0" noProof="0" dirty="0">
                <a:solidFill>
                  <a:srgbClr val="4A7C3F"/>
                </a:solidFill>
                <a:latin typeface="Calibri"/>
              </a:rPr>
              <a:t> de </a:t>
            </a:r>
            <a:r>
              <a:rPr lang="pt-BR" sz="1000" b="0" i="0" noProof="0" dirty="0" err="1">
                <a:solidFill>
                  <a:srgbClr val="4A7C3F"/>
                </a:solidFill>
                <a:latin typeface="Calibri"/>
              </a:rPr>
              <a:t>usuario</a:t>
            </a:r>
            <a:r>
              <a:rPr lang="pt-BR" sz="1000" b="0" i="0" noProof="0" dirty="0">
                <a:solidFill>
                  <a:srgbClr val="4A7C3F"/>
                </a:solidFill>
                <a:latin typeface="Calibri"/>
              </a:rPr>
              <a:t>, </a:t>
            </a:r>
            <a:r>
              <a:rPr lang="pt-BR" sz="1000" b="0" i="0" noProof="0" dirty="0" err="1">
                <a:solidFill>
                  <a:srgbClr val="4A7C3F"/>
                </a:solidFill>
                <a:latin typeface="Calibri"/>
              </a:rPr>
              <a:t>validacao</a:t>
            </a:r>
            <a:r>
              <a:rPr lang="pt-BR" sz="1000" b="0" i="0" noProof="0" dirty="0">
                <a:solidFill>
                  <a:srgbClr val="4A7C3F"/>
                </a:solidFill>
                <a:latin typeface="Calibri"/>
              </a:rPr>
              <a:t> de </a:t>
            </a:r>
            <a:r>
              <a:rPr lang="pt-BR" sz="1000" b="0" i="0" noProof="0" dirty="0" err="1">
                <a:solidFill>
                  <a:srgbClr val="4A7C3F"/>
                </a:solidFill>
                <a:latin typeface="Calibri"/>
              </a:rPr>
              <a:t>email</a:t>
            </a:r>
            <a:r>
              <a:rPr lang="pt-BR" sz="1000" b="0" i="0" noProof="0" dirty="0">
                <a:solidFill>
                  <a:srgbClr val="4A7C3F"/>
                </a:solidFill>
                <a:latin typeface="Calibri"/>
              </a:rPr>
              <a:t>, </a:t>
            </a:r>
            <a:r>
              <a:rPr lang="pt-BR" sz="1000" b="0" i="0" noProof="0" dirty="0" err="1">
                <a:solidFill>
                  <a:srgbClr val="4A7C3F"/>
                </a:solidFill>
                <a:latin typeface="Calibri"/>
              </a:rPr>
              <a:t>autenticacao</a:t>
            </a:r>
            <a:r>
              <a:rPr lang="pt-BR" sz="1000" b="0" i="0" noProof="0" dirty="0">
                <a:solidFill>
                  <a:srgbClr val="4A7C3F"/>
                </a:solidFill>
                <a:latin typeface="Calibri"/>
              </a:rPr>
              <a:t> completa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09159" y="1536192"/>
            <a:ext cx="41605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5" name="Rectangle 24"/>
          <p:cNvSpPr/>
          <p:nvPr/>
        </p:nvSpPr>
        <p:spPr>
          <a:xfrm>
            <a:off x="4709159" y="1536192"/>
            <a:ext cx="4160520" cy="347472"/>
          </a:xfrm>
          <a:prstGeom prst="rect">
            <a:avLst/>
          </a:prstGeom>
          <a:solidFill>
            <a:srgbClr val="2E4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6" name="TextBox 25"/>
          <p:cNvSpPr txBox="1"/>
          <p:nvPr/>
        </p:nvSpPr>
        <p:spPr>
          <a:xfrm>
            <a:off x="4800599" y="1581912"/>
            <a:ext cx="393192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150" b="1" i="0" noProof="0" dirty="0">
                <a:solidFill>
                  <a:srgbClr val="FFFFFF"/>
                </a:solidFill>
                <a:latin typeface="Calibri"/>
              </a:rPr>
              <a:t>Front-</a:t>
            </a:r>
            <a:r>
              <a:rPr lang="pt-BR" sz="1150" b="1" i="0" noProof="0" dirty="0" err="1">
                <a:solidFill>
                  <a:srgbClr val="FFFFFF"/>
                </a:solidFill>
                <a:latin typeface="Calibri"/>
              </a:rPr>
              <a:t>end</a:t>
            </a:r>
            <a:r>
              <a:rPr lang="pt-BR" sz="1150" b="1" i="0" noProof="0" dirty="0">
                <a:solidFill>
                  <a:srgbClr val="FFFFFF"/>
                </a:solidFill>
                <a:latin typeface="Calibri"/>
              </a:rPr>
              <a:t>  —  Gustavo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0599" y="1956816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4A7C3F"/>
                </a:solidFill>
                <a:latin typeface="Calibri"/>
              </a:rPr>
              <a:t>v  1.4: Catalogo </a:t>
            </a:r>
            <a:r>
              <a:rPr lang="pt-BR" sz="1000" b="0" i="0" noProof="0" dirty="0" err="1">
                <a:solidFill>
                  <a:srgbClr val="4A7C3F"/>
                </a:solidFill>
                <a:latin typeface="Calibri"/>
              </a:rPr>
              <a:t>dinamico</a:t>
            </a:r>
            <a:r>
              <a:rPr lang="pt-BR" sz="1000" b="0" i="0" noProof="0" dirty="0">
                <a:solidFill>
                  <a:srgbClr val="4A7C3F"/>
                </a:solidFill>
                <a:latin typeface="Calibri"/>
              </a:rPr>
              <a:t> baseado no banco de dados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599" y="2231136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4A7C3F"/>
                </a:solidFill>
                <a:latin typeface="Calibri"/>
              </a:rPr>
              <a:t>v  1.5: Interface Login/Cadastro (</a:t>
            </a:r>
            <a:r>
              <a:rPr lang="pt-BR" sz="1000" b="0" i="0" noProof="0" dirty="0" err="1">
                <a:solidFill>
                  <a:srgbClr val="4A7C3F"/>
                </a:solidFill>
                <a:latin typeface="Calibri"/>
              </a:rPr>
              <a:t>Dark</a:t>
            </a:r>
            <a:r>
              <a:rPr lang="pt-BR" sz="1000" b="0" i="0" noProof="0" dirty="0">
                <a:solidFill>
                  <a:srgbClr val="4A7C3F"/>
                </a:solidFill>
                <a:latin typeface="Calibri"/>
              </a:rPr>
              <a:t> </a:t>
            </a:r>
            <a:r>
              <a:rPr lang="pt-BR" sz="1000" b="0" i="0" noProof="0" dirty="0" err="1">
                <a:solidFill>
                  <a:srgbClr val="4A7C3F"/>
                </a:solidFill>
                <a:latin typeface="Calibri"/>
              </a:rPr>
              <a:t>Mode</a:t>
            </a:r>
            <a:r>
              <a:rPr lang="pt-BR" sz="1000" b="0" i="0" noProof="0" dirty="0">
                <a:solidFill>
                  <a:srgbClr val="4A7C3F"/>
                </a:solidFill>
                <a:latin typeface="Calibri"/>
              </a:rPr>
              <a:t> / </a:t>
            </a:r>
            <a:r>
              <a:rPr lang="pt-BR" sz="1000" b="0" i="0" noProof="0" dirty="0" err="1">
                <a:solidFill>
                  <a:srgbClr val="4A7C3F"/>
                </a:solidFill>
                <a:latin typeface="Calibri"/>
              </a:rPr>
              <a:t>Glassmorphism</a:t>
            </a:r>
            <a:r>
              <a:rPr lang="pt-BR" sz="1000" b="0" i="0" noProof="0" dirty="0">
                <a:solidFill>
                  <a:srgbClr val="4A7C3F"/>
                </a:solidFill>
                <a:latin typeface="Calibri"/>
              </a:rPr>
              <a:t>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00599" y="2505456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4A7C3F"/>
                </a:solidFill>
                <a:latin typeface="Calibri"/>
              </a:rPr>
              <a:t>v  3.4: Interface visual para </a:t>
            </a:r>
            <a:r>
              <a:rPr lang="pt-BR" sz="1000" b="0" i="0" noProof="0" dirty="0" err="1">
                <a:solidFill>
                  <a:srgbClr val="4A7C3F"/>
                </a:solidFill>
                <a:latin typeface="Calibri"/>
              </a:rPr>
              <a:t>historico</a:t>
            </a:r>
            <a:r>
              <a:rPr lang="pt-BR" sz="1000" b="0" i="0" noProof="0" dirty="0">
                <a:solidFill>
                  <a:srgbClr val="4A7C3F"/>
                </a:solidFill>
                <a:latin typeface="Calibri"/>
              </a:rPr>
              <a:t> de </a:t>
            </a:r>
            <a:r>
              <a:rPr lang="pt-BR" sz="1000" b="0" i="0" noProof="0" dirty="0" err="1">
                <a:solidFill>
                  <a:srgbClr val="4A7C3F"/>
                </a:solidFill>
                <a:latin typeface="Calibri"/>
              </a:rPr>
              <a:t>precos</a:t>
            </a:r>
            <a:endParaRPr lang="pt-BR" sz="1000" b="0" i="0" noProof="0" dirty="0">
              <a:solidFill>
                <a:srgbClr val="4A7C3F"/>
              </a:solidFill>
              <a:latin typeface="Calibr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800599" y="2779776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4A7C3F"/>
                </a:solidFill>
                <a:latin typeface="Calibri"/>
              </a:rPr>
              <a:t>v  Design responsivo, </a:t>
            </a:r>
            <a:r>
              <a:rPr lang="pt-BR" sz="1000" b="0" i="0" noProof="0" dirty="0" err="1">
                <a:solidFill>
                  <a:srgbClr val="4A7C3F"/>
                </a:solidFill>
                <a:latin typeface="Calibri"/>
              </a:rPr>
              <a:t>navbar</a:t>
            </a:r>
            <a:r>
              <a:rPr lang="pt-BR" sz="1000" b="0" i="0" noProof="0" dirty="0">
                <a:solidFill>
                  <a:srgbClr val="4A7C3F"/>
                </a:solidFill>
                <a:latin typeface="Calibri"/>
              </a:rPr>
              <a:t> personalizada por </a:t>
            </a:r>
            <a:r>
              <a:rPr lang="pt-BR" sz="1000" b="0" i="0" noProof="0" dirty="0" err="1">
                <a:solidFill>
                  <a:srgbClr val="4A7C3F"/>
                </a:solidFill>
                <a:latin typeface="Calibri"/>
              </a:rPr>
              <a:t>usuario</a:t>
            </a:r>
            <a:endParaRPr lang="pt-BR" sz="1000" b="0" i="0" noProof="0" dirty="0">
              <a:solidFill>
                <a:srgbClr val="4A7C3F"/>
              </a:solidFill>
              <a:latin typeface="Calibri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274320" y="3200400"/>
            <a:ext cx="41605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2" name="Rectangle 31"/>
          <p:cNvSpPr/>
          <p:nvPr/>
        </p:nvSpPr>
        <p:spPr>
          <a:xfrm>
            <a:off x="274320" y="3200400"/>
            <a:ext cx="4160520" cy="34747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3" name="TextBox 32"/>
          <p:cNvSpPr txBox="1"/>
          <p:nvPr/>
        </p:nvSpPr>
        <p:spPr>
          <a:xfrm>
            <a:off x="365760" y="3246120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150" b="1" i="0" noProof="0" dirty="0">
                <a:solidFill>
                  <a:srgbClr val="FFFFFF"/>
                </a:solidFill>
                <a:latin typeface="Calibri"/>
              </a:rPr>
              <a:t>Queries / API  —  Henrique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3621024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4A7C3F"/>
                </a:solidFill>
                <a:latin typeface="Calibri"/>
              </a:rPr>
              <a:t>v  3.1: Queries de </a:t>
            </a:r>
            <a:r>
              <a:rPr lang="pt-BR" sz="1000" b="0" i="0" noProof="0" dirty="0" err="1">
                <a:solidFill>
                  <a:srgbClr val="4A7C3F"/>
                </a:solidFill>
                <a:latin typeface="Calibri"/>
              </a:rPr>
              <a:t>precos</a:t>
            </a:r>
            <a:r>
              <a:rPr lang="pt-BR" sz="1000" b="0" i="0" noProof="0" dirty="0">
                <a:solidFill>
                  <a:srgbClr val="4A7C3F"/>
                </a:solidFill>
                <a:latin typeface="Calibri"/>
              </a:rPr>
              <a:t> no </a:t>
            </a:r>
            <a:r>
              <a:rPr lang="pt-BR" sz="1000" b="0" i="0" noProof="0" dirty="0" err="1">
                <a:solidFill>
                  <a:srgbClr val="4A7C3F"/>
                </a:solidFill>
                <a:latin typeface="Calibri"/>
              </a:rPr>
              <a:t>SteamDB</a:t>
            </a:r>
            <a:r>
              <a:rPr lang="pt-BR" sz="1000" b="0" i="0" noProof="0" dirty="0">
                <a:solidFill>
                  <a:srgbClr val="4A7C3F"/>
                </a:solidFill>
                <a:latin typeface="Calibri"/>
              </a:rPr>
              <a:t> (REST API)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3895344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4A7C3F"/>
                </a:solidFill>
                <a:latin typeface="Calibri"/>
              </a:rPr>
              <a:t>v  3.2: Queries de </a:t>
            </a:r>
            <a:r>
              <a:rPr lang="pt-BR" sz="1000" b="0" i="0" noProof="0" dirty="0" err="1">
                <a:solidFill>
                  <a:srgbClr val="4A7C3F"/>
                </a:solidFill>
                <a:latin typeface="Calibri"/>
              </a:rPr>
              <a:t>precos</a:t>
            </a:r>
            <a:r>
              <a:rPr lang="pt-BR" sz="1000" b="0" i="0" noProof="0" dirty="0">
                <a:solidFill>
                  <a:srgbClr val="4A7C3F"/>
                </a:solidFill>
                <a:latin typeface="Calibri"/>
              </a:rPr>
              <a:t> no </a:t>
            </a:r>
            <a:r>
              <a:rPr lang="pt-BR" sz="1000" b="0" i="0" noProof="0" dirty="0" err="1">
                <a:solidFill>
                  <a:srgbClr val="4A7C3F"/>
                </a:solidFill>
                <a:latin typeface="Calibri"/>
              </a:rPr>
              <a:t>MongoDB</a:t>
            </a:r>
            <a:r>
              <a:rPr lang="pt-BR" sz="1000" b="0" i="0" noProof="0" dirty="0">
                <a:solidFill>
                  <a:srgbClr val="4A7C3F"/>
                </a:solidFill>
                <a:latin typeface="Calibri"/>
              </a:rPr>
              <a:t> (REST API)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4169663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4A7C3F"/>
                </a:solidFill>
                <a:latin typeface="Calibri"/>
              </a:rPr>
              <a:t>v  API /api/</a:t>
            </a:r>
            <a:r>
              <a:rPr lang="pt-BR" sz="1000" b="0" i="0" noProof="0" dirty="0" err="1">
                <a:solidFill>
                  <a:srgbClr val="4A7C3F"/>
                </a:solidFill>
                <a:latin typeface="Calibri"/>
              </a:rPr>
              <a:t>prices</a:t>
            </a:r>
            <a:r>
              <a:rPr lang="pt-BR" sz="1000" b="0" i="0" noProof="0" dirty="0">
                <a:solidFill>
                  <a:srgbClr val="4A7C3F"/>
                </a:solidFill>
                <a:latin typeface="Calibri"/>
              </a:rPr>
              <a:t>/</a:t>
            </a:r>
            <a:r>
              <a:rPr lang="pt-BR" sz="1000" b="0" i="0" noProof="0" dirty="0" err="1">
                <a:solidFill>
                  <a:srgbClr val="4A7C3F"/>
                </a:solidFill>
                <a:latin typeface="Calibri"/>
              </a:rPr>
              <a:t>steam</a:t>
            </a:r>
            <a:r>
              <a:rPr lang="pt-BR" sz="1000" b="0" i="0" noProof="0" dirty="0">
                <a:solidFill>
                  <a:srgbClr val="4A7C3F"/>
                </a:solidFill>
                <a:latin typeface="Calibri"/>
              </a:rPr>
              <a:t> (</a:t>
            </a:r>
            <a:r>
              <a:rPr lang="pt-BR" sz="1000" b="0" i="0" noProof="0" dirty="0" err="1">
                <a:solidFill>
                  <a:srgbClr val="4A7C3F"/>
                </a:solidFill>
                <a:latin typeface="Calibri"/>
              </a:rPr>
              <a:t>SQLite</a:t>
            </a:r>
            <a:r>
              <a:rPr lang="pt-BR" sz="1000" b="0" i="0" noProof="0" dirty="0">
                <a:solidFill>
                  <a:srgbClr val="4A7C3F"/>
                </a:solidFill>
                <a:latin typeface="Calibri"/>
              </a:rPr>
              <a:t>) e /api/</a:t>
            </a:r>
            <a:r>
              <a:rPr lang="pt-BR" sz="1000" b="0" i="0" noProof="0" dirty="0" err="1">
                <a:solidFill>
                  <a:srgbClr val="4A7C3F"/>
                </a:solidFill>
                <a:latin typeface="Calibri"/>
              </a:rPr>
              <a:t>prices</a:t>
            </a:r>
            <a:r>
              <a:rPr lang="pt-BR" sz="1000" b="0" i="0" noProof="0" dirty="0">
                <a:solidFill>
                  <a:srgbClr val="4A7C3F"/>
                </a:solidFill>
                <a:latin typeface="Calibri"/>
              </a:rPr>
              <a:t>/mongo funcionais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4443983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4A7C3F"/>
                </a:solidFill>
                <a:latin typeface="Calibri"/>
              </a:rPr>
              <a:t>v  Dados de jogos reais consultados via </a:t>
            </a:r>
            <a:r>
              <a:rPr lang="pt-BR" sz="1000" b="0" i="0" noProof="0" dirty="0" err="1">
                <a:solidFill>
                  <a:srgbClr val="4A7C3F"/>
                </a:solidFill>
                <a:latin typeface="Calibri"/>
              </a:rPr>
              <a:t>SteamDB</a:t>
            </a:r>
            <a:r>
              <a:rPr lang="pt-BR" sz="1000" b="0" i="0" noProof="0" dirty="0">
                <a:solidFill>
                  <a:srgbClr val="4A7C3F"/>
                </a:solidFill>
                <a:latin typeface="Calibri"/>
              </a:rPr>
              <a:t> e </a:t>
            </a:r>
            <a:r>
              <a:rPr lang="pt-BR" sz="1000" b="0" i="0" noProof="0" dirty="0" err="1">
                <a:solidFill>
                  <a:srgbClr val="4A7C3F"/>
                </a:solidFill>
                <a:latin typeface="Calibri"/>
              </a:rPr>
              <a:t>MongoDB</a:t>
            </a:r>
            <a:endParaRPr lang="pt-BR" sz="1000" b="0" i="0" noProof="0" dirty="0">
              <a:solidFill>
                <a:srgbClr val="4A7C3F"/>
              </a:solidFill>
              <a:latin typeface="Calibri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4709159" y="3200400"/>
            <a:ext cx="41605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9" name="Rectangle 38"/>
          <p:cNvSpPr/>
          <p:nvPr/>
        </p:nvSpPr>
        <p:spPr>
          <a:xfrm>
            <a:off x="4709159" y="3200400"/>
            <a:ext cx="4160520" cy="347472"/>
          </a:xfrm>
          <a:prstGeom prst="rect">
            <a:avLst/>
          </a:prstGeom>
          <a:solidFill>
            <a:srgbClr val="4A7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0" name="TextBox 39"/>
          <p:cNvSpPr txBox="1"/>
          <p:nvPr/>
        </p:nvSpPr>
        <p:spPr>
          <a:xfrm>
            <a:off x="4800599" y="3246120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150" b="1" i="0" noProof="0" dirty="0">
                <a:solidFill>
                  <a:srgbClr val="FFFFFF"/>
                </a:solidFill>
                <a:latin typeface="Calibri"/>
              </a:rPr>
              <a:t>Redirecionamento  —  Matheus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00599" y="3621024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4A7C3F"/>
                </a:solidFill>
                <a:latin typeface="Calibri"/>
              </a:rPr>
              <a:t>v  2.3.1: </a:t>
            </a:r>
            <a:r>
              <a:rPr lang="pt-BR" sz="1000" b="0" i="0" noProof="0" dirty="0" err="1">
                <a:solidFill>
                  <a:srgbClr val="4A7C3F"/>
                </a:solidFill>
                <a:latin typeface="Calibri"/>
              </a:rPr>
              <a:t>Geracao</a:t>
            </a:r>
            <a:r>
              <a:rPr lang="pt-BR" sz="1000" b="0" i="0" noProof="0" dirty="0">
                <a:solidFill>
                  <a:srgbClr val="4A7C3F"/>
                </a:solidFill>
                <a:latin typeface="Calibri"/>
              </a:rPr>
              <a:t> de link direto para o site da loja do jogo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00599" y="3895344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4A7C3F"/>
                </a:solidFill>
                <a:latin typeface="Calibri"/>
              </a:rPr>
              <a:t>v  2.3.2: Armazenamento de </a:t>
            </a:r>
            <a:r>
              <a:rPr lang="pt-BR" sz="1000" b="0" i="0" noProof="0" dirty="0" err="1">
                <a:solidFill>
                  <a:srgbClr val="4A7C3F"/>
                </a:solidFill>
                <a:latin typeface="Calibri"/>
              </a:rPr>
              <a:t>historico</a:t>
            </a:r>
            <a:r>
              <a:rPr lang="pt-BR" sz="1000" b="0" i="0" noProof="0" dirty="0">
                <a:solidFill>
                  <a:srgbClr val="4A7C3F"/>
                </a:solidFill>
                <a:latin typeface="Calibri"/>
              </a:rPr>
              <a:t> de </a:t>
            </a:r>
            <a:r>
              <a:rPr lang="pt-BR" sz="1000" b="0" i="0" noProof="0" dirty="0" err="1">
                <a:solidFill>
                  <a:srgbClr val="4A7C3F"/>
                </a:solidFill>
                <a:latin typeface="Calibri"/>
              </a:rPr>
              <a:t>navegacao</a:t>
            </a:r>
            <a:r>
              <a:rPr lang="pt-BR" sz="1000" b="0" i="0" noProof="0" dirty="0">
                <a:solidFill>
                  <a:srgbClr val="4A7C3F"/>
                </a:solidFill>
                <a:latin typeface="Calibri"/>
              </a:rPr>
              <a:t> (</a:t>
            </a:r>
            <a:r>
              <a:rPr lang="pt-BR" sz="1000" b="0" i="0" noProof="0" dirty="0" err="1">
                <a:solidFill>
                  <a:srgbClr val="4A7C3F"/>
                </a:solidFill>
                <a:latin typeface="Calibri"/>
              </a:rPr>
              <a:t>MongoDB</a:t>
            </a:r>
            <a:r>
              <a:rPr lang="pt-BR" sz="1000" b="0" i="0" noProof="0" dirty="0">
                <a:solidFill>
                  <a:srgbClr val="4A7C3F"/>
                </a:solidFill>
                <a:latin typeface="Calibri"/>
              </a:rPr>
              <a:t>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00599" y="4169663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4A7C3F"/>
                </a:solidFill>
                <a:latin typeface="Calibri"/>
              </a:rPr>
              <a:t>v  </a:t>
            </a:r>
            <a:r>
              <a:rPr lang="pt-BR" sz="1000" b="0" i="0" noProof="0" dirty="0" err="1">
                <a:solidFill>
                  <a:srgbClr val="4A7C3F"/>
                </a:solidFill>
                <a:latin typeface="Calibri"/>
              </a:rPr>
              <a:t>Usuario</a:t>
            </a:r>
            <a:r>
              <a:rPr lang="pt-BR" sz="1000" b="0" i="0" noProof="0" dirty="0">
                <a:solidFill>
                  <a:srgbClr val="4A7C3F"/>
                </a:solidFill>
                <a:latin typeface="Calibri"/>
              </a:rPr>
              <a:t> redirecionado ao clicar em 'Comprar' com log registrado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00599" y="4443983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4A7C3F"/>
                </a:solidFill>
                <a:latin typeface="Calibri"/>
              </a:rPr>
              <a:t>v  Rota /</a:t>
            </a:r>
            <a:r>
              <a:rPr lang="pt-BR" sz="1000" b="0" i="0" noProof="0" dirty="0" err="1">
                <a:solidFill>
                  <a:srgbClr val="4A7C3F"/>
                </a:solidFill>
                <a:latin typeface="Calibri"/>
              </a:rPr>
              <a:t>redirect</a:t>
            </a:r>
            <a:r>
              <a:rPr lang="pt-BR" sz="1000" b="0" i="0" noProof="0" dirty="0">
                <a:solidFill>
                  <a:srgbClr val="4A7C3F"/>
                </a:solidFill>
                <a:latin typeface="Calibri"/>
              </a:rPr>
              <a:t>/&lt;</a:t>
            </a:r>
            <a:r>
              <a:rPr lang="pt-BR" sz="1000" b="0" i="0" noProof="0" dirty="0" err="1">
                <a:solidFill>
                  <a:srgbClr val="4A7C3F"/>
                </a:solidFill>
                <a:latin typeface="Calibri"/>
              </a:rPr>
              <a:t>link_id</a:t>
            </a:r>
            <a:r>
              <a:rPr lang="pt-BR" sz="1000" b="0" i="0" noProof="0" dirty="0">
                <a:solidFill>
                  <a:srgbClr val="4A7C3F"/>
                </a:solidFill>
                <a:latin typeface="Calibri"/>
              </a:rPr>
              <a:t>&gt; implementada e testada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C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6" name="TextBox 45"/>
          <p:cNvSpPr txBox="1"/>
          <p:nvPr/>
        </p:nvSpPr>
        <p:spPr>
          <a:xfrm>
            <a:off x="274320" y="4901184"/>
            <a:ext cx="6858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00" b="0" i="0" noProof="0" dirty="0" err="1">
                <a:solidFill>
                  <a:srgbClr val="FFFFFF"/>
                </a:solidFill>
                <a:latin typeface="Calibri"/>
              </a:rPr>
              <a:t>I-Deal</a:t>
            </a:r>
            <a:r>
              <a:rPr lang="pt-BR" sz="900" b="0" i="0" noProof="0" dirty="0">
                <a:solidFill>
                  <a:srgbClr val="FFFFFF"/>
                </a:solidFill>
                <a:latin typeface="Calibri"/>
              </a:rPr>
              <a:t>  ·  Sprint 1 Review  ·  CC7540 – Laboratório Noturno 760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0" y="4901184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sz="900" b="0" i="0" noProof="0" dirty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37160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800" b="1" i="0" noProof="0" dirty="0">
                <a:solidFill>
                  <a:srgbClr val="1C2B5E"/>
                </a:solidFill>
                <a:latin typeface="Georgia"/>
              </a:rPr>
              <a:t>05 · Validação do </a:t>
            </a:r>
            <a:r>
              <a:rPr lang="pt-BR" sz="2800" b="1" i="0" noProof="0" dirty="0" err="1">
                <a:solidFill>
                  <a:srgbClr val="1C2B5E"/>
                </a:solidFill>
                <a:latin typeface="Georgia"/>
              </a:rPr>
              <a:t>Product</a:t>
            </a:r>
            <a:r>
              <a:rPr lang="pt-BR" sz="2800" b="1" i="0" noProof="0" dirty="0">
                <a:solidFill>
                  <a:srgbClr val="1C2B5E"/>
                </a:solidFill>
                <a:latin typeface="Georgia"/>
              </a:rPr>
              <a:t> </a:t>
            </a:r>
            <a:r>
              <a:rPr lang="pt-BR" sz="2800" b="1" i="0" noProof="0" dirty="0" err="1">
                <a:solidFill>
                  <a:srgbClr val="1C2B5E"/>
                </a:solidFill>
                <a:latin typeface="Georgia"/>
              </a:rPr>
              <a:t>Owner</a:t>
            </a:r>
            <a:endParaRPr lang="pt-BR" sz="2800" b="1" i="0" noProof="0" dirty="0">
              <a:solidFill>
                <a:srgbClr val="1C2B5E"/>
              </a:solidFill>
              <a:latin typeface="Georgia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1480" y="685800"/>
            <a:ext cx="8321040" cy="9144"/>
          </a:xfrm>
          <a:prstGeom prst="rect">
            <a:avLst/>
          </a:prstGeom>
          <a:solidFill>
            <a:srgbClr val="2E4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365760"/>
          </a:xfrm>
          <a:prstGeom prst="rect">
            <a:avLst/>
          </a:prstGeom>
          <a:solidFill>
            <a:srgbClr val="1C2B5E"/>
          </a:solidFill>
          <a:ln w="12700">
            <a:solidFill>
              <a:srgbClr val="1C2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8229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b="1" i="0" noProof="0" dirty="0" err="1">
                <a:solidFill>
                  <a:srgbClr val="FFFFFF"/>
                </a:solidFill>
                <a:latin typeface="Calibri"/>
              </a:rPr>
              <a:t>Product</a:t>
            </a:r>
            <a:r>
              <a:rPr lang="pt-BR" sz="1100" b="1" i="0" noProof="0" dirty="0">
                <a:solidFill>
                  <a:srgbClr val="FFFFFF"/>
                </a:solidFill>
                <a:latin typeface="Calibri"/>
              </a:rPr>
              <a:t> </a:t>
            </a:r>
            <a:r>
              <a:rPr lang="pt-BR" sz="1100" b="1" i="0" noProof="0" dirty="0" err="1">
                <a:solidFill>
                  <a:srgbClr val="FFFFFF"/>
                </a:solidFill>
                <a:latin typeface="Calibri"/>
              </a:rPr>
              <a:t>Owner</a:t>
            </a:r>
            <a:r>
              <a:rPr lang="pt-BR" sz="1100" b="1" i="0" noProof="0" dirty="0">
                <a:solidFill>
                  <a:srgbClr val="FFFFFF"/>
                </a:solidFill>
                <a:latin typeface="Calibri"/>
              </a:rPr>
              <a:t>: Isabella Vieira Silva Rosseto   ·   Scrum Master: Matheus Ferreira de Freitas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07008"/>
            <a:ext cx="8595360" cy="292608"/>
          </a:xfrm>
          <a:prstGeom prst="rect">
            <a:avLst/>
          </a:prstGeom>
          <a:solidFill>
            <a:srgbClr val="2E4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384048" y="1225296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FFFFFF"/>
                </a:solidFill>
                <a:latin typeface="Calibri"/>
              </a:rPr>
              <a:t>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1225296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FFFFFF"/>
                </a:solidFill>
                <a:latin typeface="Calibri"/>
              </a:rPr>
              <a:t>Tarefa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225296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FFFFFF"/>
                </a:solidFill>
                <a:latin typeface="Calibri"/>
              </a:rPr>
              <a:t>Entregável / Critério de Aceitação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1225296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000" b="1" i="0" noProof="0" dirty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499616"/>
            <a:ext cx="8595360" cy="246888"/>
          </a:xfrm>
          <a:prstGeom prst="rect">
            <a:avLst/>
          </a:prstGeom>
          <a:solidFill>
            <a:srgbClr val="F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384048" y="151790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028090"/>
                </a:solidFill>
                <a:latin typeface="Calibri"/>
              </a:rPr>
              <a:t>US05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1517904"/>
            <a:ext cx="6583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1C2B5E"/>
                </a:solidFill>
                <a:latin typeface="Calibri"/>
              </a:rPr>
              <a:t>1.1/1.2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517904"/>
            <a:ext cx="5394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Cadastro e Login implementados com </a:t>
            </a:r>
            <a:r>
              <a:rPr lang="pt-BR" sz="950" b="0" i="0" noProof="0" dirty="0" err="1">
                <a:solidFill>
                  <a:srgbClr val="333333"/>
                </a:solidFill>
                <a:latin typeface="Calibri"/>
              </a:rPr>
              <a:t>hash</a:t>
            </a:r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 seguro (</a:t>
            </a:r>
            <a:r>
              <a:rPr lang="pt-BR" sz="950" b="0" i="0" noProof="0" dirty="0" err="1">
                <a:solidFill>
                  <a:srgbClr val="333333"/>
                </a:solidFill>
                <a:latin typeface="Calibri"/>
              </a:rPr>
              <a:t>werkzeug</a:t>
            </a:r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1517904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4A7C3F"/>
                </a:solidFill>
                <a:latin typeface="Calibri"/>
              </a:rPr>
              <a:t>[OK] Entregue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746504"/>
            <a:ext cx="859536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384048" y="1764792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028090"/>
                </a:solidFill>
                <a:latin typeface="Calibri"/>
              </a:rPr>
              <a:t>US05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1764792"/>
            <a:ext cx="6583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1C2B5E"/>
                </a:solidFill>
                <a:latin typeface="Calibri"/>
              </a:rPr>
              <a:t>1.3.1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1764792"/>
            <a:ext cx="5394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Tabela de </a:t>
            </a:r>
            <a:r>
              <a:rPr lang="pt-BR" sz="950" b="0" i="0" noProof="0" dirty="0" err="1">
                <a:solidFill>
                  <a:srgbClr val="333333"/>
                </a:solidFill>
                <a:latin typeface="Calibri"/>
              </a:rPr>
              <a:t>Usuarios</a:t>
            </a:r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 criada e testada com dados </a:t>
            </a:r>
            <a:r>
              <a:rPr lang="pt-BR" sz="950" b="0" i="0" noProof="0" dirty="0" err="1">
                <a:solidFill>
                  <a:srgbClr val="333333"/>
                </a:solidFill>
                <a:latin typeface="Calibri"/>
              </a:rPr>
              <a:t>ficticios</a:t>
            </a:r>
            <a:endParaRPr lang="pt-BR" sz="950" b="0" i="0" noProof="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223760" y="1764792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4A7C3F"/>
                </a:solidFill>
                <a:latin typeface="Calibri"/>
              </a:rPr>
              <a:t>[OK] Entregue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1993391"/>
            <a:ext cx="8595360" cy="246888"/>
          </a:xfrm>
          <a:prstGeom prst="rect">
            <a:avLst/>
          </a:prstGeom>
          <a:solidFill>
            <a:srgbClr val="F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2" name="TextBox 21"/>
          <p:cNvSpPr txBox="1"/>
          <p:nvPr/>
        </p:nvSpPr>
        <p:spPr>
          <a:xfrm>
            <a:off x="384048" y="2011679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028090"/>
                </a:solidFill>
                <a:latin typeface="Calibri"/>
              </a:rPr>
              <a:t>US01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" y="2011679"/>
            <a:ext cx="6583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1C2B5E"/>
                </a:solidFill>
                <a:latin typeface="Calibri"/>
              </a:rPr>
              <a:t>1.3.2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2011679"/>
            <a:ext cx="5394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Tabela de Jogos criada e populada com dados reais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2011679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4A7C3F"/>
                </a:solidFill>
                <a:latin typeface="Calibri"/>
              </a:rPr>
              <a:t>[OK] Entregue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240280"/>
            <a:ext cx="859536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7" name="TextBox 26"/>
          <p:cNvSpPr txBox="1"/>
          <p:nvPr/>
        </p:nvSpPr>
        <p:spPr>
          <a:xfrm>
            <a:off x="384048" y="2258568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028090"/>
                </a:solidFill>
                <a:latin typeface="Calibri"/>
              </a:rPr>
              <a:t>US01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" y="2258568"/>
            <a:ext cx="6583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1C2B5E"/>
                </a:solidFill>
                <a:latin typeface="Calibri"/>
              </a:rPr>
              <a:t>1.3.3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37360" y="2258568"/>
            <a:ext cx="5394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Tabela de </a:t>
            </a:r>
            <a:r>
              <a:rPr lang="pt-BR" sz="950" b="0" i="0" noProof="0" dirty="0" err="1">
                <a:solidFill>
                  <a:srgbClr val="333333"/>
                </a:solidFill>
                <a:latin typeface="Calibri"/>
              </a:rPr>
              <a:t>Precos</a:t>
            </a:r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 criada (1 dia de atraso — API </a:t>
            </a:r>
            <a:r>
              <a:rPr lang="pt-BR" sz="950" b="0" i="0" noProof="0" dirty="0" err="1">
                <a:solidFill>
                  <a:srgbClr val="333333"/>
                </a:solidFill>
                <a:latin typeface="Calibri"/>
              </a:rPr>
              <a:t>indisponivel</a:t>
            </a:r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2258568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D4A017"/>
                </a:solidFill>
                <a:latin typeface="Calibri"/>
              </a:rPr>
              <a:t>[!] Entregue c/ atraso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2487168"/>
            <a:ext cx="8595360" cy="246888"/>
          </a:xfrm>
          <a:prstGeom prst="rect">
            <a:avLst/>
          </a:prstGeom>
          <a:solidFill>
            <a:srgbClr val="F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2" name="TextBox 31"/>
          <p:cNvSpPr txBox="1"/>
          <p:nvPr/>
        </p:nvSpPr>
        <p:spPr>
          <a:xfrm>
            <a:off x="384048" y="2505456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028090"/>
                </a:solidFill>
                <a:latin typeface="Calibri"/>
              </a:rPr>
              <a:t>US01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" y="2505456"/>
            <a:ext cx="6583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1C2B5E"/>
                </a:solidFill>
                <a:latin typeface="Calibri"/>
              </a:rPr>
              <a:t>1.4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37360" y="2505456"/>
            <a:ext cx="5394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Catalogo exibe jogos dinamicamente a partir do banco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2505456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4A7C3F"/>
                </a:solidFill>
                <a:latin typeface="Calibri"/>
              </a:rPr>
              <a:t>[OK] Entregue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2734056"/>
            <a:ext cx="859536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7" name="TextBox 36"/>
          <p:cNvSpPr txBox="1"/>
          <p:nvPr/>
        </p:nvSpPr>
        <p:spPr>
          <a:xfrm>
            <a:off x="384048" y="275234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028090"/>
                </a:solidFill>
                <a:latin typeface="Calibri"/>
              </a:rPr>
              <a:t>US05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128" y="2752344"/>
            <a:ext cx="6583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1C2B5E"/>
                </a:solidFill>
                <a:latin typeface="Calibri"/>
              </a:rPr>
              <a:t>1.5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37360" y="2752344"/>
            <a:ext cx="5394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Interface visual Cadastro/Login entregue (</a:t>
            </a:r>
            <a:r>
              <a:rPr lang="pt-BR" sz="950" b="0" i="0" noProof="0" dirty="0" err="1">
                <a:solidFill>
                  <a:srgbClr val="333333"/>
                </a:solidFill>
                <a:latin typeface="Calibri"/>
              </a:rPr>
              <a:t>glassmorphism</a:t>
            </a:r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23760" y="2752344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4A7C3F"/>
                </a:solidFill>
                <a:latin typeface="Calibri"/>
              </a:rPr>
              <a:t>[OK] Entregue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2980944"/>
            <a:ext cx="8595360" cy="246888"/>
          </a:xfrm>
          <a:prstGeom prst="rect">
            <a:avLst/>
          </a:prstGeom>
          <a:solidFill>
            <a:srgbClr val="F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2" name="TextBox 41"/>
          <p:cNvSpPr txBox="1"/>
          <p:nvPr/>
        </p:nvSpPr>
        <p:spPr>
          <a:xfrm>
            <a:off x="384048" y="2999232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028090"/>
                </a:solidFill>
                <a:latin typeface="Calibri"/>
              </a:rPr>
              <a:t>US04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4128" y="2999232"/>
            <a:ext cx="6583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1C2B5E"/>
                </a:solidFill>
                <a:latin typeface="Calibri"/>
              </a:rPr>
              <a:t>2.3.1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37360" y="2999232"/>
            <a:ext cx="5394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Link de redirecionamento para a loja do jogo gerado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23760" y="2999232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4A7C3F"/>
                </a:solidFill>
                <a:latin typeface="Calibri"/>
              </a:rPr>
              <a:t>[OK] Entregue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3227832"/>
            <a:ext cx="859536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7" name="TextBox 46"/>
          <p:cNvSpPr txBox="1"/>
          <p:nvPr/>
        </p:nvSpPr>
        <p:spPr>
          <a:xfrm>
            <a:off x="384048" y="3246120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028090"/>
                </a:solidFill>
                <a:latin typeface="Calibri"/>
              </a:rPr>
              <a:t>US04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4128" y="3246120"/>
            <a:ext cx="6583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1C2B5E"/>
                </a:solidFill>
                <a:latin typeface="Calibri"/>
              </a:rPr>
              <a:t>2.3.2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737360" y="3246120"/>
            <a:ext cx="5394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0" i="0" noProof="0" dirty="0" err="1">
                <a:solidFill>
                  <a:srgbClr val="333333"/>
                </a:solidFill>
                <a:latin typeface="Calibri"/>
              </a:rPr>
              <a:t>Historico</a:t>
            </a:r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 de </a:t>
            </a:r>
            <a:r>
              <a:rPr lang="pt-BR" sz="950" b="0" i="0" noProof="0" dirty="0" err="1">
                <a:solidFill>
                  <a:srgbClr val="333333"/>
                </a:solidFill>
                <a:latin typeface="Calibri"/>
              </a:rPr>
              <a:t>navegacao</a:t>
            </a:r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 armazenado no </a:t>
            </a:r>
            <a:r>
              <a:rPr lang="pt-BR" sz="950" b="0" i="0" noProof="0" dirty="0" err="1">
                <a:solidFill>
                  <a:srgbClr val="333333"/>
                </a:solidFill>
                <a:latin typeface="Calibri"/>
              </a:rPr>
              <a:t>MongoDB</a:t>
            </a:r>
            <a:endParaRPr lang="pt-BR" sz="950" b="0" i="0" noProof="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7223760" y="3246120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4A7C3F"/>
                </a:solidFill>
                <a:latin typeface="Calibri"/>
              </a:rPr>
              <a:t>[OK] Entregue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3474720"/>
            <a:ext cx="8595360" cy="246888"/>
          </a:xfrm>
          <a:prstGeom prst="rect">
            <a:avLst/>
          </a:prstGeom>
          <a:solidFill>
            <a:srgbClr val="F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2" name="TextBox 51"/>
          <p:cNvSpPr txBox="1"/>
          <p:nvPr/>
        </p:nvSpPr>
        <p:spPr>
          <a:xfrm>
            <a:off x="384048" y="3493008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028090"/>
                </a:solidFill>
                <a:latin typeface="Calibri"/>
              </a:rPr>
              <a:t>US01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24128" y="3493008"/>
            <a:ext cx="6583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1C2B5E"/>
                </a:solidFill>
                <a:latin typeface="Calibri"/>
              </a:rPr>
              <a:t>3.1/3.2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737360" y="3493008"/>
            <a:ext cx="5394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Queries de </a:t>
            </a:r>
            <a:r>
              <a:rPr lang="pt-BR" sz="950" b="0" i="0" noProof="0" dirty="0" err="1">
                <a:solidFill>
                  <a:srgbClr val="333333"/>
                </a:solidFill>
                <a:latin typeface="Calibri"/>
              </a:rPr>
              <a:t>precos</a:t>
            </a:r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 no </a:t>
            </a:r>
            <a:r>
              <a:rPr lang="pt-BR" sz="950" b="0" i="0" noProof="0" dirty="0" err="1">
                <a:solidFill>
                  <a:srgbClr val="333333"/>
                </a:solidFill>
                <a:latin typeface="Calibri"/>
              </a:rPr>
              <a:t>SteamDB</a:t>
            </a:r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 e </a:t>
            </a:r>
            <a:r>
              <a:rPr lang="pt-BR" sz="950" b="0" i="0" noProof="0" dirty="0" err="1">
                <a:solidFill>
                  <a:srgbClr val="333333"/>
                </a:solidFill>
                <a:latin typeface="Calibri"/>
              </a:rPr>
              <a:t>MongoDB</a:t>
            </a:r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 funcionais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23760" y="3493008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4A7C3F"/>
                </a:solidFill>
                <a:latin typeface="Calibri"/>
              </a:rPr>
              <a:t>[OK] Entregue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3721608"/>
            <a:ext cx="859536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7" name="TextBox 56"/>
          <p:cNvSpPr txBox="1"/>
          <p:nvPr/>
        </p:nvSpPr>
        <p:spPr>
          <a:xfrm>
            <a:off x="384048" y="3739896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028090"/>
                </a:solidFill>
                <a:latin typeface="Calibri"/>
              </a:rPr>
              <a:t>US02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4128" y="3739896"/>
            <a:ext cx="6583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1C2B5E"/>
                </a:solidFill>
                <a:latin typeface="Calibri"/>
              </a:rPr>
              <a:t>3.4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737360" y="3739896"/>
            <a:ext cx="5394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Interface de </a:t>
            </a:r>
            <a:r>
              <a:rPr lang="pt-BR" sz="950" b="0" i="0" noProof="0" dirty="0" err="1">
                <a:solidFill>
                  <a:srgbClr val="333333"/>
                </a:solidFill>
                <a:latin typeface="Calibri"/>
              </a:rPr>
              <a:t>historico</a:t>
            </a:r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 de </a:t>
            </a:r>
            <a:r>
              <a:rPr lang="pt-BR" sz="950" b="0" i="0" noProof="0" dirty="0" err="1">
                <a:solidFill>
                  <a:srgbClr val="333333"/>
                </a:solidFill>
                <a:latin typeface="Calibri"/>
              </a:rPr>
              <a:t>precos</a:t>
            </a:r>
            <a:r>
              <a:rPr lang="pt-BR" sz="950" b="0" i="0" noProof="0" dirty="0">
                <a:solidFill>
                  <a:srgbClr val="333333"/>
                </a:solidFill>
                <a:latin typeface="Calibri"/>
              </a:rPr>
              <a:t> desenvolvida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23760" y="3739896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50" b="1" i="0" noProof="0" dirty="0">
                <a:solidFill>
                  <a:srgbClr val="4A7C3F"/>
                </a:solidFill>
                <a:latin typeface="Calibri"/>
              </a:rPr>
              <a:t>[OK] Entregue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" y="4041648"/>
            <a:ext cx="8595360" cy="438912"/>
          </a:xfrm>
          <a:prstGeom prst="rect">
            <a:avLst/>
          </a:prstGeom>
          <a:solidFill>
            <a:srgbClr val="4A7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2" name="TextBox 61"/>
          <p:cNvSpPr txBox="1"/>
          <p:nvPr/>
        </p:nvSpPr>
        <p:spPr>
          <a:xfrm>
            <a:off x="457200" y="4078224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b="1" i="0" noProof="0" dirty="0">
                <a:solidFill>
                  <a:srgbClr val="FFFFFF"/>
                </a:solidFill>
                <a:latin typeface="Calibri"/>
              </a:rPr>
              <a:t>SPRINT 1 APROVADA — 12 tarefas entregues (1 com atraso de 1 dia). </a:t>
            </a:r>
            <a:r>
              <a:rPr lang="pt-BR" sz="1200" b="1" i="0" noProof="0" dirty="0" err="1">
                <a:solidFill>
                  <a:srgbClr val="FFFFFF"/>
                </a:solidFill>
                <a:latin typeface="Calibri"/>
              </a:rPr>
              <a:t>Kanban</a:t>
            </a:r>
            <a:r>
              <a:rPr lang="pt-BR" sz="1200" b="1" i="0" noProof="0" dirty="0">
                <a:solidFill>
                  <a:srgbClr val="FFFFFF"/>
                </a:solidFill>
                <a:latin typeface="Calibri"/>
              </a:rPr>
              <a:t>: SPRINT 1 - </a:t>
            </a:r>
            <a:r>
              <a:rPr lang="pt-BR" sz="1200" b="1" i="0" noProof="0" dirty="0" err="1">
                <a:solidFill>
                  <a:srgbClr val="FFFFFF"/>
                </a:solidFill>
                <a:latin typeface="Calibri"/>
              </a:rPr>
              <a:t>Concluido</a:t>
            </a:r>
            <a:r>
              <a:rPr lang="pt-BR" sz="1200" b="1" i="0" noProof="0" dirty="0">
                <a:solidFill>
                  <a:srgbClr val="FFFFFF"/>
                </a:solidFill>
                <a:latin typeface="Calibri"/>
              </a:rPr>
              <a:t> completo.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C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4" name="TextBox 63"/>
          <p:cNvSpPr txBox="1"/>
          <p:nvPr/>
        </p:nvSpPr>
        <p:spPr>
          <a:xfrm>
            <a:off x="274320" y="4901184"/>
            <a:ext cx="6858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00" b="0" i="0" noProof="0" dirty="0" err="1">
                <a:solidFill>
                  <a:srgbClr val="FFFFFF"/>
                </a:solidFill>
                <a:latin typeface="Calibri"/>
              </a:rPr>
              <a:t>I-Deal</a:t>
            </a:r>
            <a:r>
              <a:rPr lang="pt-BR" sz="900" b="0" i="0" noProof="0" dirty="0">
                <a:solidFill>
                  <a:srgbClr val="FFFFFF"/>
                </a:solidFill>
                <a:latin typeface="Calibri"/>
              </a:rPr>
              <a:t>  ·  Sprint 1 Review  ·  CC7540 – Laboratório Noturno 760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686800" y="4901184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sz="900" b="0" i="0" noProof="0" dirty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37160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800" b="1" i="0" noProof="0" dirty="0">
                <a:solidFill>
                  <a:srgbClr val="1C2B5E"/>
                </a:solidFill>
                <a:latin typeface="Georgia"/>
              </a:rPr>
              <a:t>06 · Retrospectiva da Sprint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58368"/>
            <a:ext cx="8321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400" b="0" i="0" noProof="0" dirty="0">
                <a:solidFill>
                  <a:srgbClr val="333333"/>
                </a:solidFill>
                <a:latin typeface="Calibri"/>
              </a:rPr>
              <a:t>O que aprendemos nesta Sprint?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8321040" cy="9144"/>
          </a:xfrm>
          <a:prstGeom prst="rect">
            <a:avLst/>
          </a:prstGeom>
          <a:solidFill>
            <a:srgbClr val="2E4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2834640" cy="475488"/>
          </a:xfrm>
          <a:prstGeom prst="rect">
            <a:avLst/>
          </a:prstGeom>
          <a:solidFill>
            <a:srgbClr val="4A7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365760" y="1133856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200" b="1" i="0" noProof="0" dirty="0">
                <a:solidFill>
                  <a:srgbClr val="FFFFFF"/>
                </a:solidFill>
                <a:latin typeface="Calibri"/>
              </a:rPr>
              <a:t>[ + ]  O que funcionou bem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28346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A7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8" name="Rectangle 7"/>
          <p:cNvSpPr/>
          <p:nvPr/>
        </p:nvSpPr>
        <p:spPr>
          <a:xfrm>
            <a:off x="365760" y="1700784"/>
            <a:ext cx="54864" cy="54864"/>
          </a:xfrm>
          <a:prstGeom prst="rect">
            <a:avLst/>
          </a:prstGeom>
          <a:solidFill>
            <a:srgbClr val="4A7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475488" y="1664208"/>
            <a:ext cx="2514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100" b="0" i="0" noProof="0" dirty="0">
                <a:solidFill>
                  <a:srgbClr val="333333"/>
                </a:solidFill>
                <a:latin typeface="Calibri"/>
              </a:rPr>
              <a:t>12 de 12 tarefas entregues somente 1 com 1 dia de atraso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221992"/>
            <a:ext cx="54864" cy="54864"/>
          </a:xfrm>
          <a:prstGeom prst="rect">
            <a:avLst/>
          </a:prstGeom>
          <a:solidFill>
            <a:srgbClr val="4A7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475488" y="2185416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100" b="0" i="0" noProof="0" dirty="0" err="1">
                <a:solidFill>
                  <a:srgbClr val="333333"/>
                </a:solidFill>
                <a:latin typeface="Calibri"/>
              </a:rPr>
              <a:t>Divisao</a:t>
            </a:r>
            <a:r>
              <a:rPr lang="pt-BR" sz="1100" b="0" i="0" noProof="0" dirty="0">
                <a:solidFill>
                  <a:srgbClr val="333333"/>
                </a:solidFill>
                <a:latin typeface="Calibri"/>
              </a:rPr>
              <a:t> clara: cada membro tinha escopo </a:t>
            </a:r>
            <a:r>
              <a:rPr lang="pt-BR" sz="1100" b="0" i="0" noProof="0" dirty="0" err="1">
                <a:solidFill>
                  <a:srgbClr val="333333"/>
                </a:solidFill>
                <a:latin typeface="Calibri"/>
              </a:rPr>
              <a:t>proprio</a:t>
            </a:r>
            <a:r>
              <a:rPr lang="pt-BR" sz="1100" b="0" i="0" noProof="0" dirty="0">
                <a:solidFill>
                  <a:srgbClr val="333333"/>
                </a:solidFill>
                <a:latin typeface="Calibri"/>
              </a:rPr>
              <a:t> no </a:t>
            </a:r>
            <a:r>
              <a:rPr lang="pt-BR" sz="1100" b="0" i="0" noProof="0" dirty="0" err="1">
                <a:solidFill>
                  <a:srgbClr val="333333"/>
                </a:solidFill>
                <a:latin typeface="Calibri"/>
              </a:rPr>
              <a:t>Kanban</a:t>
            </a:r>
            <a:endParaRPr lang="pt-BR" sz="1100" b="0" i="0" noProof="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65760" y="2743200"/>
            <a:ext cx="54864" cy="54864"/>
          </a:xfrm>
          <a:prstGeom prst="rect">
            <a:avLst/>
          </a:prstGeom>
          <a:solidFill>
            <a:srgbClr val="4A7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475488" y="2706624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100" b="0" i="0" noProof="0" dirty="0">
                <a:solidFill>
                  <a:srgbClr val="333333"/>
                </a:solidFill>
                <a:latin typeface="Calibri"/>
              </a:rPr>
              <a:t>Interface visual moderna (</a:t>
            </a:r>
            <a:r>
              <a:rPr lang="pt-BR" sz="1100" b="0" i="0" noProof="0" dirty="0" err="1">
                <a:solidFill>
                  <a:srgbClr val="333333"/>
                </a:solidFill>
                <a:latin typeface="Calibri"/>
              </a:rPr>
              <a:t>glassmorphism</a:t>
            </a:r>
            <a:r>
              <a:rPr lang="pt-BR" sz="1100" b="0" i="0" noProof="0" dirty="0">
                <a:solidFill>
                  <a:srgbClr val="333333"/>
                </a:solidFill>
                <a:latin typeface="Calibri"/>
              </a:rPr>
              <a:t>) aprovada pelo time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264408"/>
            <a:ext cx="54864" cy="54864"/>
          </a:xfrm>
          <a:prstGeom prst="rect">
            <a:avLst/>
          </a:prstGeom>
          <a:solidFill>
            <a:srgbClr val="4A7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475488" y="3227832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100" b="0" i="0" noProof="0" dirty="0">
                <a:solidFill>
                  <a:srgbClr val="333333"/>
                </a:solidFill>
                <a:latin typeface="Calibri"/>
              </a:rPr>
              <a:t>Nenhum bloqueio critico que impedisse a entrega do MVP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785615"/>
            <a:ext cx="54864" cy="54864"/>
          </a:xfrm>
          <a:prstGeom prst="rect">
            <a:avLst/>
          </a:prstGeom>
          <a:solidFill>
            <a:srgbClr val="4A7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475488" y="3749039"/>
            <a:ext cx="2514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100" b="0" i="0" noProof="0" dirty="0" err="1">
                <a:solidFill>
                  <a:srgbClr val="333333"/>
                </a:solidFill>
                <a:latin typeface="Calibri"/>
              </a:rPr>
              <a:t>Comunicacao</a:t>
            </a:r>
            <a:r>
              <a:rPr lang="pt-BR" sz="1100" b="0" i="0" noProof="0" dirty="0">
                <a:solidFill>
                  <a:srgbClr val="333333"/>
                </a:solidFill>
                <a:latin typeface="Calibri"/>
              </a:rPr>
              <a:t> eficiente time sincronizado pelo </a:t>
            </a:r>
            <a:r>
              <a:rPr lang="pt-BR" sz="1100" b="0" i="0" noProof="0" dirty="0" err="1">
                <a:solidFill>
                  <a:srgbClr val="333333"/>
                </a:solidFill>
                <a:latin typeface="Calibri"/>
              </a:rPr>
              <a:t>Trello</a:t>
            </a:r>
            <a:endParaRPr lang="pt-BR" sz="1100" b="0" i="0" noProof="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246120" y="1097280"/>
            <a:ext cx="2834640" cy="475488"/>
          </a:xfrm>
          <a:prstGeom prst="rect">
            <a:avLst/>
          </a:prstGeom>
          <a:solidFill>
            <a:srgbClr val="C2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9" name="TextBox 18"/>
          <p:cNvSpPr txBox="1"/>
          <p:nvPr/>
        </p:nvSpPr>
        <p:spPr>
          <a:xfrm>
            <a:off x="3337560" y="1133856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200" b="1" i="0" noProof="0" dirty="0">
                <a:solidFill>
                  <a:srgbClr val="FFFFFF"/>
                </a:solidFill>
                <a:latin typeface="Calibri"/>
              </a:rPr>
              <a:t>[ - ]  O que </a:t>
            </a:r>
            <a:r>
              <a:rPr lang="pt-BR" sz="1200" b="1" i="0" noProof="0" dirty="0" err="1">
                <a:solidFill>
                  <a:srgbClr val="FFFFFF"/>
                </a:solidFill>
                <a:latin typeface="Calibri"/>
              </a:rPr>
              <a:t>nao</a:t>
            </a:r>
            <a:r>
              <a:rPr lang="pt-BR" sz="1200" b="1" i="0" noProof="0" dirty="0">
                <a:solidFill>
                  <a:srgbClr val="FFFFFF"/>
                </a:solidFill>
                <a:latin typeface="Calibri"/>
              </a:rPr>
              <a:t> funcionou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46120" y="1600200"/>
            <a:ext cx="28346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2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1" name="Rectangle 20"/>
          <p:cNvSpPr/>
          <p:nvPr/>
        </p:nvSpPr>
        <p:spPr>
          <a:xfrm>
            <a:off x="3337560" y="1700784"/>
            <a:ext cx="54864" cy="54864"/>
          </a:xfrm>
          <a:prstGeom prst="rect">
            <a:avLst/>
          </a:prstGeom>
          <a:solidFill>
            <a:srgbClr val="C2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2" name="TextBox 21"/>
          <p:cNvSpPr txBox="1"/>
          <p:nvPr/>
        </p:nvSpPr>
        <p:spPr>
          <a:xfrm>
            <a:off x="3447288" y="1664208"/>
            <a:ext cx="2514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100" b="0" i="0" noProof="0" dirty="0">
                <a:solidFill>
                  <a:srgbClr val="333333"/>
                </a:solidFill>
                <a:latin typeface="Calibri"/>
              </a:rPr>
              <a:t>API de loja ficou fora do ar atraso de 1 dia na tarefa 1.3.3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37560" y="2266569"/>
            <a:ext cx="54864" cy="54864"/>
          </a:xfrm>
          <a:prstGeom prst="rect">
            <a:avLst/>
          </a:prstGeom>
          <a:solidFill>
            <a:srgbClr val="C2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6" name="TextBox 25"/>
          <p:cNvSpPr txBox="1"/>
          <p:nvPr/>
        </p:nvSpPr>
        <p:spPr>
          <a:xfrm>
            <a:off x="3447288" y="2229993"/>
            <a:ext cx="2514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100" b="0" i="0" noProof="0" dirty="0">
                <a:solidFill>
                  <a:srgbClr val="333333"/>
                </a:solidFill>
                <a:latin typeface="Calibri"/>
              </a:rPr>
              <a:t>2.1 e 2.2 </a:t>
            </a:r>
            <a:r>
              <a:rPr lang="pt-BR" sz="1100" b="0" i="0" noProof="0" dirty="0" err="1">
                <a:solidFill>
                  <a:srgbClr val="333333"/>
                </a:solidFill>
                <a:latin typeface="Calibri"/>
              </a:rPr>
              <a:t>nao</a:t>
            </a:r>
            <a:r>
              <a:rPr lang="pt-BR" sz="1100" b="0" i="0" noProof="0" dirty="0">
                <a:solidFill>
                  <a:srgbClr val="333333"/>
                </a:solidFill>
                <a:latin typeface="Calibri"/>
              </a:rPr>
              <a:t> foram iniciadas na Sprint 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37560" y="2787777"/>
            <a:ext cx="54864" cy="54864"/>
          </a:xfrm>
          <a:prstGeom prst="rect">
            <a:avLst/>
          </a:prstGeom>
          <a:solidFill>
            <a:srgbClr val="C2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8" name="TextBox 27"/>
          <p:cNvSpPr txBox="1"/>
          <p:nvPr/>
        </p:nvSpPr>
        <p:spPr>
          <a:xfrm>
            <a:off x="3447288" y="2751201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100" b="0" i="0" noProof="0" dirty="0">
                <a:solidFill>
                  <a:srgbClr val="333333"/>
                </a:solidFill>
                <a:latin typeface="Calibri"/>
              </a:rPr>
              <a:t>Falta de testes automatizados ao longo do desenvolvimento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37560" y="3308984"/>
            <a:ext cx="54864" cy="54864"/>
          </a:xfrm>
          <a:prstGeom prst="rect">
            <a:avLst/>
          </a:prstGeom>
          <a:solidFill>
            <a:srgbClr val="C2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0" name="TextBox 29"/>
          <p:cNvSpPr txBox="1"/>
          <p:nvPr/>
        </p:nvSpPr>
        <p:spPr>
          <a:xfrm>
            <a:off x="3447288" y="3272408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100" b="0" i="0" noProof="0" dirty="0" err="1">
                <a:solidFill>
                  <a:srgbClr val="333333"/>
                </a:solidFill>
                <a:latin typeface="Calibri"/>
              </a:rPr>
              <a:t>Dailies</a:t>
            </a:r>
            <a:r>
              <a:rPr lang="pt-BR" sz="1100" b="0" i="0" noProof="0" dirty="0">
                <a:solidFill>
                  <a:srgbClr val="333333"/>
                </a:solidFill>
                <a:latin typeface="Calibri"/>
              </a:rPr>
              <a:t> </a:t>
            </a:r>
            <a:r>
              <a:rPr lang="pt-BR" sz="1100" b="0" i="0" noProof="0" dirty="0" err="1">
                <a:solidFill>
                  <a:srgbClr val="333333"/>
                </a:solidFill>
                <a:latin typeface="Calibri"/>
              </a:rPr>
              <a:t>nao</a:t>
            </a:r>
            <a:r>
              <a:rPr lang="pt-BR" sz="1100" b="0" i="0" noProof="0" dirty="0">
                <a:solidFill>
                  <a:srgbClr val="333333"/>
                </a:solidFill>
                <a:latin typeface="Calibri"/>
              </a:rPr>
              <a:t> foram realizadas de forma </a:t>
            </a:r>
            <a:r>
              <a:rPr lang="pt-BR" sz="1100" b="0" i="0" noProof="0" dirty="0" err="1">
                <a:solidFill>
                  <a:srgbClr val="333333"/>
                </a:solidFill>
                <a:latin typeface="Calibri"/>
              </a:rPr>
              <a:t>assincrona</a:t>
            </a:r>
            <a:r>
              <a:rPr lang="pt-BR" sz="1100" b="0" i="0" noProof="0" dirty="0">
                <a:solidFill>
                  <a:srgbClr val="333333"/>
                </a:solidFill>
                <a:latin typeface="Calibri"/>
              </a:rPr>
              <a:t> estruturada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1097280"/>
            <a:ext cx="2834640" cy="475488"/>
          </a:xfrm>
          <a:prstGeom prst="rect">
            <a:avLst/>
          </a:prstGeom>
          <a:solidFill>
            <a:srgbClr val="1C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2" name="TextBox 31"/>
          <p:cNvSpPr txBox="1"/>
          <p:nvPr/>
        </p:nvSpPr>
        <p:spPr>
          <a:xfrm>
            <a:off x="6309359" y="1133856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200" b="1" i="0" noProof="0" dirty="0">
                <a:solidFill>
                  <a:srgbClr val="FFFFFF"/>
                </a:solidFill>
                <a:latin typeface="Calibri"/>
              </a:rPr>
              <a:t>[ &gt; ]  O que melhoraremos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1600200"/>
            <a:ext cx="28346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C2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4" name="Rectangle 33"/>
          <p:cNvSpPr/>
          <p:nvPr/>
        </p:nvSpPr>
        <p:spPr>
          <a:xfrm>
            <a:off x="6309359" y="1700784"/>
            <a:ext cx="54864" cy="54864"/>
          </a:xfrm>
          <a:prstGeom prst="rect">
            <a:avLst/>
          </a:prstGeom>
          <a:solidFill>
            <a:srgbClr val="1C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5" name="TextBox 34"/>
          <p:cNvSpPr txBox="1"/>
          <p:nvPr/>
        </p:nvSpPr>
        <p:spPr>
          <a:xfrm>
            <a:off x="6419088" y="1664208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100" b="0" i="0" noProof="0" dirty="0">
                <a:solidFill>
                  <a:srgbClr val="333333"/>
                </a:solidFill>
                <a:latin typeface="Calibri"/>
              </a:rPr>
              <a:t>Mapear </a:t>
            </a:r>
            <a:r>
              <a:rPr lang="pt-BR" sz="1100" b="0" i="0" noProof="0" dirty="0" err="1">
                <a:solidFill>
                  <a:srgbClr val="333333"/>
                </a:solidFill>
                <a:latin typeface="Calibri"/>
              </a:rPr>
              <a:t>dependencias</a:t>
            </a:r>
            <a:r>
              <a:rPr lang="pt-BR" sz="1100" b="0" i="0" noProof="0" dirty="0">
                <a:solidFill>
                  <a:srgbClr val="333333"/>
                </a:solidFill>
                <a:latin typeface="Calibri"/>
              </a:rPr>
              <a:t> entre tarefas no planejamento da sprint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59" y="2221992"/>
            <a:ext cx="54864" cy="54864"/>
          </a:xfrm>
          <a:prstGeom prst="rect">
            <a:avLst/>
          </a:prstGeom>
          <a:solidFill>
            <a:srgbClr val="1C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7" name="TextBox 36"/>
          <p:cNvSpPr txBox="1"/>
          <p:nvPr/>
        </p:nvSpPr>
        <p:spPr>
          <a:xfrm>
            <a:off x="6419088" y="2185416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100" b="0" i="0" noProof="0" dirty="0">
                <a:solidFill>
                  <a:srgbClr val="333333"/>
                </a:solidFill>
                <a:latin typeface="Calibri"/>
              </a:rPr>
              <a:t>Ter </a:t>
            </a:r>
            <a:r>
              <a:rPr lang="pt-BR" sz="1100" b="0" i="0" noProof="0" dirty="0" err="1">
                <a:solidFill>
                  <a:srgbClr val="333333"/>
                </a:solidFill>
                <a:latin typeface="Calibri"/>
              </a:rPr>
              <a:t>fallback</a:t>
            </a:r>
            <a:r>
              <a:rPr lang="pt-BR" sz="1100" b="0" i="0" noProof="0" dirty="0">
                <a:solidFill>
                  <a:srgbClr val="333333"/>
                </a:solidFill>
                <a:latin typeface="Calibri"/>
              </a:rPr>
              <a:t> (dados </a:t>
            </a:r>
            <a:r>
              <a:rPr lang="pt-BR" sz="1100" b="0" i="0" noProof="0" dirty="0" err="1">
                <a:solidFill>
                  <a:srgbClr val="333333"/>
                </a:solidFill>
                <a:latin typeface="Calibri"/>
              </a:rPr>
              <a:t>mockados</a:t>
            </a:r>
            <a:r>
              <a:rPr lang="pt-BR" sz="1100" b="0" i="0" noProof="0" dirty="0">
                <a:solidFill>
                  <a:srgbClr val="333333"/>
                </a:solidFill>
                <a:latin typeface="Calibri"/>
              </a:rPr>
              <a:t>) para </a:t>
            </a:r>
            <a:r>
              <a:rPr lang="pt-BR" sz="1100" b="0" i="0" noProof="0" dirty="0" err="1">
                <a:solidFill>
                  <a:srgbClr val="333333"/>
                </a:solidFill>
                <a:latin typeface="Calibri"/>
              </a:rPr>
              <a:t>nao</a:t>
            </a:r>
            <a:r>
              <a:rPr lang="pt-BR" sz="1100" b="0" i="0" noProof="0" dirty="0">
                <a:solidFill>
                  <a:srgbClr val="333333"/>
                </a:solidFill>
                <a:latin typeface="Calibri"/>
              </a:rPr>
              <a:t> depender de APIs externas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59" y="2743200"/>
            <a:ext cx="54864" cy="54864"/>
          </a:xfrm>
          <a:prstGeom prst="rect">
            <a:avLst/>
          </a:prstGeom>
          <a:solidFill>
            <a:srgbClr val="1C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9" name="TextBox 38"/>
          <p:cNvSpPr txBox="1"/>
          <p:nvPr/>
        </p:nvSpPr>
        <p:spPr>
          <a:xfrm>
            <a:off x="6419088" y="2706624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100" b="0" i="0" noProof="0" dirty="0">
                <a:solidFill>
                  <a:srgbClr val="333333"/>
                </a:solidFill>
                <a:latin typeface="Calibri"/>
              </a:rPr>
              <a:t>Configurar </a:t>
            </a:r>
            <a:r>
              <a:rPr lang="pt-BR" sz="1100" b="0" i="0" noProof="0" dirty="0" err="1">
                <a:solidFill>
                  <a:srgbClr val="333333"/>
                </a:solidFill>
                <a:latin typeface="Calibri"/>
              </a:rPr>
              <a:t>suite</a:t>
            </a:r>
            <a:r>
              <a:rPr lang="pt-BR" sz="1100" b="0" i="0" noProof="0" dirty="0">
                <a:solidFill>
                  <a:srgbClr val="333333"/>
                </a:solidFill>
                <a:latin typeface="Calibri"/>
              </a:rPr>
              <a:t> de testes automatizados (</a:t>
            </a:r>
            <a:r>
              <a:rPr lang="pt-BR" sz="1100" b="0" i="0" noProof="0" dirty="0" err="1">
                <a:solidFill>
                  <a:srgbClr val="333333"/>
                </a:solidFill>
                <a:latin typeface="Calibri"/>
              </a:rPr>
              <a:t>pytest</a:t>
            </a:r>
            <a:r>
              <a:rPr lang="pt-BR" sz="1100" b="0" i="0" noProof="0" dirty="0">
                <a:solidFill>
                  <a:srgbClr val="333333"/>
                </a:solidFill>
                <a:latin typeface="Calibri"/>
              </a:rPr>
              <a:t>) desde o inicio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59" y="3264408"/>
            <a:ext cx="54864" cy="54864"/>
          </a:xfrm>
          <a:prstGeom prst="rect">
            <a:avLst/>
          </a:prstGeom>
          <a:solidFill>
            <a:srgbClr val="1C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1" name="TextBox 40"/>
          <p:cNvSpPr txBox="1"/>
          <p:nvPr/>
        </p:nvSpPr>
        <p:spPr>
          <a:xfrm>
            <a:off x="6419088" y="3227832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100" b="0" i="0" noProof="0" dirty="0">
                <a:solidFill>
                  <a:srgbClr val="333333"/>
                </a:solidFill>
                <a:latin typeface="Calibri"/>
              </a:rPr>
              <a:t>Estabelecer </a:t>
            </a:r>
            <a:r>
              <a:rPr lang="pt-BR" sz="1100" b="0" i="0" noProof="0" dirty="0" err="1">
                <a:solidFill>
                  <a:srgbClr val="333333"/>
                </a:solidFill>
                <a:latin typeface="Calibri"/>
              </a:rPr>
              <a:t>Definition</a:t>
            </a:r>
            <a:r>
              <a:rPr lang="pt-BR" sz="1100" b="0" i="0" noProof="0" dirty="0">
                <a:solidFill>
                  <a:srgbClr val="333333"/>
                </a:solidFill>
                <a:latin typeface="Calibri"/>
              </a:rPr>
              <a:t> </a:t>
            </a:r>
            <a:r>
              <a:rPr lang="pt-BR" sz="1100" b="0" i="0" noProof="0" dirty="0" err="1">
                <a:solidFill>
                  <a:srgbClr val="333333"/>
                </a:solidFill>
                <a:latin typeface="Calibri"/>
              </a:rPr>
              <a:t>of</a:t>
            </a:r>
            <a:r>
              <a:rPr lang="pt-BR" sz="1100" b="0" i="0" noProof="0" dirty="0">
                <a:solidFill>
                  <a:srgbClr val="333333"/>
                </a:solidFill>
                <a:latin typeface="Calibri"/>
              </a:rPr>
              <a:t> </a:t>
            </a:r>
            <a:r>
              <a:rPr lang="pt-BR" sz="1100" b="0" i="0" noProof="0" dirty="0" err="1">
                <a:solidFill>
                  <a:srgbClr val="333333"/>
                </a:solidFill>
                <a:latin typeface="Calibri"/>
              </a:rPr>
              <a:t>Done</a:t>
            </a:r>
            <a:r>
              <a:rPr lang="pt-BR" sz="1100" b="0" i="0" noProof="0" dirty="0">
                <a:solidFill>
                  <a:srgbClr val="333333"/>
                </a:solidFill>
                <a:latin typeface="Calibri"/>
              </a:rPr>
              <a:t> (</a:t>
            </a:r>
            <a:r>
              <a:rPr lang="pt-BR" sz="1100" b="0" i="0" noProof="0" dirty="0" err="1">
                <a:solidFill>
                  <a:srgbClr val="333333"/>
                </a:solidFill>
                <a:latin typeface="Calibri"/>
              </a:rPr>
              <a:t>DoD</a:t>
            </a:r>
            <a:r>
              <a:rPr lang="pt-BR" sz="1100" b="0" i="0" noProof="0" dirty="0">
                <a:solidFill>
                  <a:srgbClr val="333333"/>
                </a:solidFill>
                <a:latin typeface="Calibri"/>
              </a:rPr>
              <a:t>) formal para cada US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59" y="3785615"/>
            <a:ext cx="54864" cy="54864"/>
          </a:xfrm>
          <a:prstGeom prst="rect">
            <a:avLst/>
          </a:prstGeom>
          <a:solidFill>
            <a:srgbClr val="1C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3" name="TextBox 42"/>
          <p:cNvSpPr txBox="1"/>
          <p:nvPr/>
        </p:nvSpPr>
        <p:spPr>
          <a:xfrm>
            <a:off x="6419088" y="3749039"/>
            <a:ext cx="2514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100" b="0" i="0" noProof="0" dirty="0">
                <a:solidFill>
                  <a:srgbClr val="333333"/>
                </a:solidFill>
                <a:latin typeface="Calibri"/>
              </a:rPr>
              <a:t>Planejar </a:t>
            </a:r>
            <a:r>
              <a:rPr lang="pt-BR" sz="1100" b="0" i="0" noProof="0" dirty="0" err="1">
                <a:solidFill>
                  <a:srgbClr val="333333"/>
                </a:solidFill>
                <a:latin typeface="Calibri"/>
              </a:rPr>
              <a:t>daily</a:t>
            </a:r>
            <a:r>
              <a:rPr lang="pt-BR" sz="1100" b="0" i="0" noProof="0" dirty="0">
                <a:solidFill>
                  <a:srgbClr val="333333"/>
                </a:solidFill>
                <a:latin typeface="Calibri"/>
              </a:rPr>
              <a:t> meetings </a:t>
            </a:r>
            <a:r>
              <a:rPr lang="pt-BR" sz="1100" b="0" i="0" noProof="0" dirty="0" err="1">
                <a:solidFill>
                  <a:srgbClr val="333333"/>
                </a:solidFill>
                <a:latin typeface="Calibri"/>
              </a:rPr>
              <a:t>assincronas</a:t>
            </a:r>
            <a:r>
              <a:rPr lang="pt-BR" sz="1100" b="0" i="0" noProof="0" dirty="0">
                <a:solidFill>
                  <a:srgbClr val="333333"/>
                </a:solidFill>
                <a:latin typeface="Calibri"/>
              </a:rPr>
              <a:t> com </a:t>
            </a:r>
            <a:r>
              <a:rPr lang="pt-BR" sz="1100" b="0" i="0" noProof="0" dirty="0" err="1">
                <a:solidFill>
                  <a:srgbClr val="333333"/>
                </a:solidFill>
                <a:latin typeface="Calibri"/>
              </a:rPr>
              <a:t>padrao</a:t>
            </a:r>
            <a:r>
              <a:rPr lang="pt-BR" sz="1100" b="0" i="0" noProof="0" dirty="0">
                <a:solidFill>
                  <a:srgbClr val="333333"/>
                </a:solidFill>
                <a:latin typeface="Calibri"/>
              </a:rPr>
              <a:t> definido e fazer </a:t>
            </a:r>
            <a:r>
              <a:rPr lang="pt-BR" sz="1100" b="0" i="0" noProof="0" dirty="0" err="1">
                <a:solidFill>
                  <a:srgbClr val="333333"/>
                </a:solidFill>
                <a:latin typeface="Calibri"/>
              </a:rPr>
              <a:t>weeklys</a:t>
            </a:r>
            <a:r>
              <a:rPr lang="pt-BR" sz="1100" b="0" i="0" noProof="0" dirty="0">
                <a:solidFill>
                  <a:srgbClr val="333333"/>
                </a:solidFill>
                <a:latin typeface="Calibri"/>
              </a:rPr>
              <a:t> 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C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5" name="TextBox 44"/>
          <p:cNvSpPr txBox="1"/>
          <p:nvPr/>
        </p:nvSpPr>
        <p:spPr>
          <a:xfrm>
            <a:off x="274320" y="4901184"/>
            <a:ext cx="6858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00" b="0" i="0" noProof="0" dirty="0" err="1">
                <a:solidFill>
                  <a:srgbClr val="FFFFFF"/>
                </a:solidFill>
                <a:latin typeface="Calibri"/>
              </a:rPr>
              <a:t>I-Deal</a:t>
            </a:r>
            <a:r>
              <a:rPr lang="pt-BR" sz="900" b="0" i="0" noProof="0" dirty="0">
                <a:solidFill>
                  <a:srgbClr val="FFFFFF"/>
                </a:solidFill>
                <a:latin typeface="Calibri"/>
              </a:rPr>
              <a:t>  ·  Sprint 1 Review  ·  CC7540 – Laboratório Noturno 760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0" y="4901184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sz="900" b="0" i="0" noProof="0" dirty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37160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800" b="1" i="0" noProof="0" dirty="0">
                <a:solidFill>
                  <a:srgbClr val="1C2B5E"/>
                </a:solidFill>
                <a:latin typeface="Georgia"/>
              </a:rPr>
              <a:t>Próximos Passos – Sprint 2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685800"/>
            <a:ext cx="8321040" cy="9144"/>
          </a:xfrm>
          <a:prstGeom prst="rect">
            <a:avLst/>
          </a:prstGeom>
          <a:solidFill>
            <a:srgbClr val="2E4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Rectangle 3"/>
          <p:cNvSpPr/>
          <p:nvPr/>
        </p:nvSpPr>
        <p:spPr>
          <a:xfrm>
            <a:off x="6858000" y="164592"/>
            <a:ext cx="1920240" cy="347472"/>
          </a:xfrm>
          <a:prstGeom prst="rect">
            <a:avLst/>
          </a:prstGeom>
          <a:solidFill>
            <a:srgbClr val="F0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6876288" y="201168"/>
            <a:ext cx="18836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000" b="1" i="0" noProof="0" dirty="0">
                <a:solidFill>
                  <a:srgbClr val="FFFFFF"/>
                </a:solidFill>
                <a:latin typeface="Calibri"/>
              </a:rPr>
              <a:t>Sprint 2 — Em andamento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868680"/>
            <a:ext cx="73152" cy="640080"/>
          </a:xfrm>
          <a:prstGeom prst="rect">
            <a:avLst/>
          </a:prstGeom>
          <a:solidFill>
            <a:srgbClr val="F0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7" name="Rectangle 6"/>
          <p:cNvSpPr/>
          <p:nvPr/>
        </p:nvSpPr>
        <p:spPr>
          <a:xfrm>
            <a:off x="384048" y="868680"/>
            <a:ext cx="848563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502920" y="905256"/>
            <a:ext cx="594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300" b="1" i="0" noProof="0" dirty="0">
                <a:solidFill>
                  <a:srgbClr val="F09E00"/>
                </a:solidFill>
                <a:latin typeface="Calibri"/>
              </a:rPr>
              <a:t>2.1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92354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300" b="1" i="0" noProof="0" dirty="0" err="1">
                <a:solidFill>
                  <a:srgbClr val="1C2B5E"/>
                </a:solidFill>
                <a:latin typeface="Calibri"/>
              </a:rPr>
              <a:t>Adequacao</a:t>
            </a:r>
            <a:r>
              <a:rPr lang="pt-BR" sz="1300" b="1" i="0" noProof="0" dirty="0">
                <a:solidFill>
                  <a:srgbClr val="1C2B5E"/>
                </a:solidFill>
                <a:latin typeface="Calibri"/>
              </a:rPr>
              <a:t> dos </a:t>
            </a:r>
            <a:r>
              <a:rPr lang="pt-BR" sz="1300" b="1" i="0" noProof="0" dirty="0" err="1">
                <a:solidFill>
                  <a:srgbClr val="1C2B5E"/>
                </a:solidFill>
                <a:latin typeface="Calibri"/>
              </a:rPr>
              <a:t>Imports</a:t>
            </a:r>
            <a:r>
              <a:rPr lang="pt-BR" sz="1300" b="1" i="0" noProof="0" dirty="0">
                <a:solidFill>
                  <a:srgbClr val="1C2B5E"/>
                </a:solidFill>
                <a:latin typeface="Calibri"/>
              </a:rPr>
              <a:t> das Bases de Dados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19786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Mapear e normalizar dados de </a:t>
            </a:r>
            <a:r>
              <a:rPr lang="pt-BR" sz="1000" b="0" i="0" noProof="0" dirty="0" err="1">
                <a:solidFill>
                  <a:srgbClr val="333333"/>
                </a:solidFill>
                <a:latin typeface="Calibri"/>
              </a:rPr>
              <a:t>SteamDB</a:t>
            </a:r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, GOG, Epic (e cartas </a:t>
            </a:r>
            <a:r>
              <a:rPr lang="pt-BR" sz="1000" b="0" i="0" noProof="0" dirty="0" err="1">
                <a:solidFill>
                  <a:srgbClr val="333333"/>
                </a:solidFill>
                <a:latin typeface="Calibri"/>
              </a:rPr>
              <a:t>Pokemon</a:t>
            </a:r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) com algoritmo de </a:t>
            </a:r>
            <a:r>
              <a:rPr lang="pt-BR" sz="1000" b="0" i="0" noProof="0" dirty="0" err="1">
                <a:solidFill>
                  <a:srgbClr val="333333"/>
                </a:solidFill>
                <a:latin typeface="Calibri"/>
              </a:rPr>
              <a:t>string</a:t>
            </a:r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 </a:t>
            </a:r>
            <a:r>
              <a:rPr lang="pt-BR" sz="1000" b="0" i="0" noProof="0" dirty="0" err="1">
                <a:solidFill>
                  <a:srgbClr val="333333"/>
                </a:solidFill>
                <a:latin typeface="Calibri"/>
              </a:rPr>
              <a:t>matching</a:t>
            </a:r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914400"/>
            <a:ext cx="1645920" cy="256032"/>
          </a:xfrm>
          <a:prstGeom prst="rect">
            <a:avLst/>
          </a:prstGeom>
          <a:solidFill>
            <a:srgbClr val="F0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6281928" y="923544"/>
            <a:ext cx="16093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850" b="1" i="0" noProof="0" dirty="0">
                <a:solidFill>
                  <a:srgbClr val="FFFFFF"/>
                </a:solidFill>
                <a:latin typeface="Calibri"/>
              </a:rPr>
              <a:t>Em andamento — inicio: 28/mar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21615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900" b="0" i="0" noProof="0" dirty="0">
                <a:solidFill>
                  <a:srgbClr val="888888"/>
                </a:solidFill>
                <a:latin typeface="Calibri"/>
              </a:rPr>
              <a:t>Gustavo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764792"/>
            <a:ext cx="73152" cy="640080"/>
          </a:xfrm>
          <a:prstGeom prst="rect">
            <a:avLst/>
          </a:prstGeom>
          <a:solidFill>
            <a:srgbClr val="F0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5" name="Rectangle 14"/>
          <p:cNvSpPr/>
          <p:nvPr/>
        </p:nvSpPr>
        <p:spPr>
          <a:xfrm>
            <a:off x="384048" y="1764792"/>
            <a:ext cx="848563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502920" y="1801368"/>
            <a:ext cx="594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300" b="1" i="0" noProof="0" dirty="0">
                <a:solidFill>
                  <a:srgbClr val="F09E00"/>
                </a:solidFill>
                <a:latin typeface="Calibri"/>
              </a:rPr>
              <a:t>2.2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181965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300" b="1" i="0" noProof="0" dirty="0">
                <a:solidFill>
                  <a:srgbClr val="1C2B5E"/>
                </a:solidFill>
                <a:latin typeface="Calibri"/>
              </a:rPr>
              <a:t>Armazenamento de </a:t>
            </a:r>
            <a:r>
              <a:rPr lang="pt-BR" sz="1300" b="1" i="0" noProof="0" dirty="0" err="1">
                <a:solidFill>
                  <a:srgbClr val="1C2B5E"/>
                </a:solidFill>
                <a:latin typeface="Calibri"/>
              </a:rPr>
              <a:t>Precos</a:t>
            </a:r>
            <a:r>
              <a:rPr lang="pt-BR" sz="1300" b="1" i="0" noProof="0" dirty="0">
                <a:solidFill>
                  <a:srgbClr val="1C2B5E"/>
                </a:solidFill>
                <a:latin typeface="Calibri"/>
              </a:rPr>
              <a:t> </a:t>
            </a:r>
            <a:r>
              <a:rPr lang="pt-BR" sz="1300" b="1" i="0" noProof="0" dirty="0" err="1">
                <a:solidFill>
                  <a:srgbClr val="1C2B5E"/>
                </a:solidFill>
                <a:latin typeface="Calibri"/>
              </a:rPr>
              <a:t>Historicos</a:t>
            </a:r>
            <a:r>
              <a:rPr lang="pt-BR" sz="1300" b="1" i="0" noProof="0" dirty="0">
                <a:solidFill>
                  <a:srgbClr val="1C2B5E"/>
                </a:solidFill>
                <a:latin typeface="Calibri"/>
              </a:rPr>
              <a:t> no Banco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209397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Criar tabelas no banco para arquivar logs retroativos de </a:t>
            </a:r>
            <a:r>
              <a:rPr lang="pt-BR" sz="1000" b="0" i="0" noProof="0" dirty="0" err="1">
                <a:solidFill>
                  <a:srgbClr val="333333"/>
                </a:solidFill>
                <a:latin typeface="Calibri"/>
              </a:rPr>
              <a:t>precos</a:t>
            </a:r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 por jogo e por loja.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1810512"/>
            <a:ext cx="1645920" cy="256032"/>
          </a:xfrm>
          <a:prstGeom prst="rect">
            <a:avLst/>
          </a:prstGeom>
          <a:solidFill>
            <a:srgbClr val="F0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0" name="TextBox 19"/>
          <p:cNvSpPr txBox="1"/>
          <p:nvPr/>
        </p:nvSpPr>
        <p:spPr>
          <a:xfrm>
            <a:off x="6281928" y="1819656"/>
            <a:ext cx="16093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850" b="1" i="0" noProof="0" dirty="0">
                <a:solidFill>
                  <a:srgbClr val="FFFFFF"/>
                </a:solidFill>
                <a:latin typeface="Calibri"/>
              </a:rPr>
              <a:t>Em andamento — inicio: 28/mar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211226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900" b="0" i="0" noProof="0" dirty="0">
                <a:solidFill>
                  <a:srgbClr val="888888"/>
                </a:solidFill>
                <a:latin typeface="Calibri"/>
              </a:rPr>
              <a:t>Gustavo + Isabella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660904"/>
            <a:ext cx="73152" cy="640080"/>
          </a:xfrm>
          <a:prstGeom prst="rect">
            <a:avLst/>
          </a:prstGeom>
          <a:solidFill>
            <a:srgbClr val="2E4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3" name="Rectangle 22"/>
          <p:cNvSpPr/>
          <p:nvPr/>
        </p:nvSpPr>
        <p:spPr>
          <a:xfrm>
            <a:off x="384048" y="2660904"/>
            <a:ext cx="848563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4" name="TextBox 23"/>
          <p:cNvSpPr txBox="1"/>
          <p:nvPr/>
        </p:nvSpPr>
        <p:spPr>
          <a:xfrm>
            <a:off x="502920" y="2697480"/>
            <a:ext cx="594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300" b="1" i="0" noProof="0" dirty="0">
                <a:solidFill>
                  <a:srgbClr val="2E4A9E"/>
                </a:solidFill>
                <a:latin typeface="Calibri"/>
              </a:rPr>
              <a:t>US02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271576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300" b="1" i="0" noProof="0" dirty="0">
                <a:solidFill>
                  <a:srgbClr val="1C2B5E"/>
                </a:solidFill>
                <a:latin typeface="Calibri"/>
              </a:rPr>
              <a:t>Visualizar </a:t>
            </a:r>
            <a:r>
              <a:rPr lang="pt-BR" sz="1300" b="1" i="0" noProof="0" dirty="0" err="1">
                <a:solidFill>
                  <a:srgbClr val="1C2B5E"/>
                </a:solidFill>
                <a:latin typeface="Calibri"/>
              </a:rPr>
              <a:t>Historico</a:t>
            </a:r>
            <a:r>
              <a:rPr lang="pt-BR" sz="1300" b="1" i="0" noProof="0" dirty="0">
                <a:solidFill>
                  <a:srgbClr val="1C2B5E"/>
                </a:solidFill>
                <a:latin typeface="Calibri"/>
              </a:rPr>
              <a:t> de </a:t>
            </a:r>
            <a:r>
              <a:rPr lang="pt-BR" sz="1300" b="1" i="0" noProof="0" dirty="0" err="1">
                <a:solidFill>
                  <a:srgbClr val="1C2B5E"/>
                </a:solidFill>
                <a:latin typeface="Calibri"/>
              </a:rPr>
              <a:t>Precos</a:t>
            </a:r>
            <a:endParaRPr lang="pt-BR" sz="1300" b="1" i="0" noProof="0" dirty="0">
              <a:solidFill>
                <a:srgbClr val="1C2B5E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43000" y="299008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Interface </a:t>
            </a:r>
            <a:r>
              <a:rPr lang="pt-BR" sz="1000" b="0" i="0" noProof="0" dirty="0" err="1">
                <a:solidFill>
                  <a:srgbClr val="333333"/>
                </a:solidFill>
                <a:latin typeface="Calibri"/>
              </a:rPr>
              <a:t>grafica</a:t>
            </a:r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 com </a:t>
            </a:r>
            <a:r>
              <a:rPr lang="pt-BR" sz="1000" b="0" i="0" noProof="0" dirty="0" err="1">
                <a:solidFill>
                  <a:srgbClr val="333333"/>
                </a:solidFill>
                <a:latin typeface="Calibri"/>
              </a:rPr>
              <a:t>historico</a:t>
            </a:r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 de </a:t>
            </a:r>
            <a:r>
              <a:rPr lang="pt-BR" sz="1000" b="0" i="0" noProof="0" dirty="0" err="1">
                <a:solidFill>
                  <a:srgbClr val="333333"/>
                </a:solidFill>
                <a:latin typeface="Calibri"/>
              </a:rPr>
              <a:t>variacao</a:t>
            </a:r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 de </a:t>
            </a:r>
            <a:r>
              <a:rPr lang="pt-BR" sz="1000" b="0" i="0" noProof="0" dirty="0" err="1">
                <a:solidFill>
                  <a:srgbClr val="333333"/>
                </a:solidFill>
                <a:latin typeface="Calibri"/>
              </a:rPr>
              <a:t>precos</a:t>
            </a:r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 por jogo (US02 — </a:t>
            </a:r>
            <a:r>
              <a:rPr lang="pt-BR" sz="1000" b="0" i="0" noProof="0" dirty="0" err="1">
                <a:solidFill>
                  <a:srgbClr val="333333"/>
                </a:solidFill>
                <a:latin typeface="Calibri"/>
              </a:rPr>
              <a:t>Should</a:t>
            </a:r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 </a:t>
            </a:r>
            <a:r>
              <a:rPr lang="pt-BR" sz="1000" b="0" i="0" noProof="0" dirty="0" err="1">
                <a:solidFill>
                  <a:srgbClr val="333333"/>
                </a:solidFill>
                <a:latin typeface="Calibri"/>
              </a:rPr>
              <a:t>Have</a:t>
            </a:r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 no backlog).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2706624"/>
            <a:ext cx="1645920" cy="256032"/>
          </a:xfrm>
          <a:prstGeom prst="rect">
            <a:avLst/>
          </a:prstGeom>
          <a:solidFill>
            <a:srgbClr val="2E4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8" name="TextBox 27"/>
          <p:cNvSpPr txBox="1"/>
          <p:nvPr/>
        </p:nvSpPr>
        <p:spPr>
          <a:xfrm>
            <a:off x="6281928" y="2715768"/>
            <a:ext cx="16093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850" b="1" i="0" noProof="0" dirty="0">
                <a:solidFill>
                  <a:srgbClr val="FFFFFF"/>
                </a:solidFill>
                <a:latin typeface="Calibri"/>
              </a:rPr>
              <a:t>Planejado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300837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900" b="0" i="0" noProof="0" dirty="0">
                <a:solidFill>
                  <a:srgbClr val="888888"/>
                </a:solidFill>
                <a:latin typeface="Calibri"/>
              </a:rPr>
              <a:t>Time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557015"/>
            <a:ext cx="73152" cy="64008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1" name="Rectangle 30"/>
          <p:cNvSpPr/>
          <p:nvPr/>
        </p:nvSpPr>
        <p:spPr>
          <a:xfrm>
            <a:off x="384048" y="3557015"/>
            <a:ext cx="848563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2" name="TextBox 31"/>
          <p:cNvSpPr txBox="1"/>
          <p:nvPr/>
        </p:nvSpPr>
        <p:spPr>
          <a:xfrm>
            <a:off x="502920" y="3593591"/>
            <a:ext cx="594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300" b="1" i="0" noProof="0" dirty="0">
                <a:solidFill>
                  <a:srgbClr val="888888"/>
                </a:solidFill>
                <a:latin typeface="Calibri"/>
              </a:rPr>
              <a:t>US03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361187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300" b="1" i="0" noProof="0" dirty="0">
                <a:solidFill>
                  <a:srgbClr val="1C2B5E"/>
                </a:solidFill>
                <a:latin typeface="Calibri"/>
              </a:rPr>
              <a:t>Gerenciar Alertas de </a:t>
            </a:r>
            <a:r>
              <a:rPr lang="pt-BR" sz="1300" b="1" i="0" noProof="0" dirty="0" err="1">
                <a:solidFill>
                  <a:srgbClr val="1C2B5E"/>
                </a:solidFill>
                <a:latin typeface="Calibri"/>
              </a:rPr>
              <a:t>Preco</a:t>
            </a:r>
            <a:endParaRPr lang="pt-BR" sz="1300" b="1" i="0" noProof="0" dirty="0">
              <a:solidFill>
                <a:srgbClr val="1C2B5E"/>
              </a:solidFill>
              <a:latin typeface="Calibri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143000" y="388620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000" b="0" i="0" noProof="0" dirty="0" err="1">
                <a:solidFill>
                  <a:srgbClr val="333333"/>
                </a:solidFill>
                <a:latin typeface="Calibri"/>
              </a:rPr>
              <a:t>Notificacoes</a:t>
            </a:r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 quando o </a:t>
            </a:r>
            <a:r>
              <a:rPr lang="pt-BR" sz="1000" b="0" i="0" noProof="0" dirty="0" err="1">
                <a:solidFill>
                  <a:srgbClr val="333333"/>
                </a:solidFill>
                <a:latin typeface="Calibri"/>
              </a:rPr>
              <a:t>preco</a:t>
            </a:r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-alvo do </a:t>
            </a:r>
            <a:r>
              <a:rPr lang="pt-BR" sz="1000" b="0" i="0" noProof="0" dirty="0" err="1">
                <a:solidFill>
                  <a:srgbClr val="333333"/>
                </a:solidFill>
                <a:latin typeface="Calibri"/>
              </a:rPr>
              <a:t>usuario</a:t>
            </a:r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 for atingido (US03 — </a:t>
            </a:r>
            <a:r>
              <a:rPr lang="pt-BR" sz="1000" b="0" i="0" noProof="0" dirty="0" err="1">
                <a:solidFill>
                  <a:srgbClr val="333333"/>
                </a:solidFill>
                <a:latin typeface="Calibri"/>
              </a:rPr>
              <a:t>Could</a:t>
            </a:r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 </a:t>
            </a:r>
            <a:r>
              <a:rPr lang="pt-BR" sz="1000" b="0" i="0" noProof="0" dirty="0" err="1">
                <a:solidFill>
                  <a:srgbClr val="333333"/>
                </a:solidFill>
                <a:latin typeface="Calibri"/>
              </a:rPr>
              <a:t>Have</a:t>
            </a:r>
            <a:r>
              <a:rPr lang="pt-BR" sz="1000" b="0" i="0" noProof="0" dirty="0">
                <a:solidFill>
                  <a:srgbClr val="333333"/>
                </a:solidFill>
                <a:latin typeface="Calibri"/>
              </a:rPr>
              <a:t> no backlog).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3602735"/>
            <a:ext cx="1645920" cy="256032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6" name="TextBox 35"/>
          <p:cNvSpPr txBox="1"/>
          <p:nvPr/>
        </p:nvSpPr>
        <p:spPr>
          <a:xfrm>
            <a:off x="6281928" y="3611879"/>
            <a:ext cx="16093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850" b="1" i="0" noProof="0" dirty="0">
                <a:solidFill>
                  <a:srgbClr val="FFFFFF"/>
                </a:solidFill>
                <a:latin typeface="Calibri"/>
              </a:rPr>
              <a:t>Planejado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3904487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900" b="0" i="0" noProof="0" dirty="0">
                <a:solidFill>
                  <a:srgbClr val="888888"/>
                </a:solidFill>
                <a:latin typeface="Calibri"/>
              </a:rPr>
              <a:t>Time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4572000"/>
            <a:ext cx="8595360" cy="292608"/>
          </a:xfrm>
          <a:prstGeom prst="rect">
            <a:avLst/>
          </a:prstGeom>
          <a:solidFill>
            <a:srgbClr val="E8F4FD"/>
          </a:solidFill>
          <a:ln w="12700">
            <a:solidFill>
              <a:srgbClr val="2E4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9" name="TextBox 38"/>
          <p:cNvSpPr txBox="1"/>
          <p:nvPr/>
        </p:nvSpPr>
        <p:spPr>
          <a:xfrm>
            <a:off x="457200" y="459028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000" b="0" i="0" noProof="0" dirty="0">
                <a:solidFill>
                  <a:srgbClr val="1C2B5E"/>
                </a:solidFill>
                <a:latin typeface="Calibri"/>
              </a:rPr>
              <a:t>Link:  GitHub: github.com/</a:t>
            </a:r>
            <a:r>
              <a:rPr lang="pt-BR" sz="1000" b="0" i="0" noProof="0" dirty="0" err="1">
                <a:solidFill>
                  <a:srgbClr val="1C2B5E"/>
                </a:solidFill>
                <a:latin typeface="Calibri"/>
              </a:rPr>
              <a:t>FreitasFMatheus</a:t>
            </a:r>
            <a:r>
              <a:rPr lang="pt-BR" sz="1000" b="0" i="0" noProof="0" dirty="0">
                <a:solidFill>
                  <a:srgbClr val="1C2B5E"/>
                </a:solidFill>
                <a:latin typeface="Calibri"/>
              </a:rPr>
              <a:t>/Projeto-I-</a:t>
            </a:r>
            <a:r>
              <a:rPr lang="pt-BR" sz="1000" b="0" i="0" noProof="0" dirty="0" err="1">
                <a:solidFill>
                  <a:srgbClr val="1C2B5E"/>
                </a:solidFill>
                <a:latin typeface="Calibri"/>
              </a:rPr>
              <a:t>Deal</a:t>
            </a:r>
            <a:r>
              <a:rPr lang="pt-BR" sz="1000" b="0" i="0" noProof="0" dirty="0">
                <a:solidFill>
                  <a:srgbClr val="1C2B5E"/>
                </a:solidFill>
                <a:latin typeface="Calibri"/>
              </a:rPr>
              <a:t>   ·   </a:t>
            </a:r>
            <a:r>
              <a:rPr lang="pt-BR" sz="1000" b="0" i="0" noProof="0" dirty="0" err="1">
                <a:solidFill>
                  <a:srgbClr val="1C2B5E"/>
                </a:solidFill>
                <a:latin typeface="Calibri"/>
              </a:rPr>
              <a:t>Kanban</a:t>
            </a:r>
            <a:r>
              <a:rPr lang="pt-BR" sz="1000" b="0" i="0" noProof="0" dirty="0">
                <a:solidFill>
                  <a:srgbClr val="1C2B5E"/>
                </a:solidFill>
                <a:latin typeface="Calibri"/>
              </a:rPr>
              <a:t>: </a:t>
            </a:r>
            <a:r>
              <a:rPr lang="pt-BR" sz="1000" b="0" i="0" noProof="0" dirty="0" err="1">
                <a:solidFill>
                  <a:srgbClr val="1C2B5E"/>
                </a:solidFill>
                <a:latin typeface="Calibri"/>
              </a:rPr>
              <a:t>Trello</a:t>
            </a:r>
            <a:r>
              <a:rPr lang="pt-BR" sz="1000" b="0" i="0" noProof="0" dirty="0">
                <a:solidFill>
                  <a:srgbClr val="1C2B5E"/>
                </a:solidFill>
                <a:latin typeface="Calibri"/>
              </a:rPr>
              <a:t> (link disponível no repositório)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C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1" name="TextBox 40"/>
          <p:cNvSpPr txBox="1"/>
          <p:nvPr/>
        </p:nvSpPr>
        <p:spPr>
          <a:xfrm>
            <a:off x="274320" y="4901184"/>
            <a:ext cx="6858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900" b="0" i="0" noProof="0" dirty="0" err="1">
                <a:solidFill>
                  <a:srgbClr val="FFFFFF"/>
                </a:solidFill>
                <a:latin typeface="Calibri"/>
              </a:rPr>
              <a:t>I-Deal</a:t>
            </a:r>
            <a:r>
              <a:rPr lang="pt-BR" sz="900" b="0" i="0" noProof="0" dirty="0">
                <a:solidFill>
                  <a:srgbClr val="FFFFFF"/>
                </a:solidFill>
                <a:latin typeface="Calibri"/>
              </a:rPr>
              <a:t>  ·  Sprint 1 Review  ·  CC7540 – Laboratório Noturno 760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4901184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sz="900" b="0" i="0" noProof="0" dirty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7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2286000" y="5486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400" b="1" i="0" noProof="0" dirty="0">
                <a:solidFill>
                  <a:srgbClr val="4A7C3F"/>
                </a:solidFill>
                <a:latin typeface="Calibri"/>
              </a:rPr>
              <a:t>* SPRINT 1 REVIEW 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2588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5200" b="1" i="0" noProof="0" dirty="0">
                <a:solidFill>
                  <a:srgbClr val="FFFFFF"/>
                </a:solidFill>
                <a:latin typeface="Georgia"/>
              </a:rPr>
              <a:t>Obrigado!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2240280"/>
            <a:ext cx="3657600" cy="9144"/>
          </a:xfrm>
          <a:prstGeom prst="rect">
            <a:avLst/>
          </a:prstGeom>
          <a:solidFill>
            <a:srgbClr val="4A7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1371600" y="2377440"/>
            <a:ext cx="6400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000" b="0" i="0" noProof="0" dirty="0" err="1">
                <a:solidFill>
                  <a:srgbClr val="B0C4DE"/>
                </a:solidFill>
                <a:latin typeface="Georgia"/>
              </a:rPr>
              <a:t>I-Deal</a:t>
            </a:r>
            <a:r>
              <a:rPr lang="pt-BR" sz="2000" b="0" i="0" noProof="0" dirty="0">
                <a:solidFill>
                  <a:srgbClr val="B0C4DE"/>
                </a:solidFill>
                <a:latin typeface="Georgia"/>
              </a:rPr>
              <a:t> – Sprint 1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8229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300" b="0" i="0" noProof="0" dirty="0">
                <a:solidFill>
                  <a:srgbClr val="CCCCCC"/>
                </a:solidFill>
                <a:latin typeface="Calibri"/>
              </a:rPr>
              <a:t>Gustavo Cardoso  ·  Isabella Rosseto  ·  Henrique </a:t>
            </a:r>
            <a:r>
              <a:rPr lang="pt-BR" sz="1300" b="0" i="0" noProof="0" dirty="0" err="1">
                <a:solidFill>
                  <a:srgbClr val="CCCCCC"/>
                </a:solidFill>
                <a:latin typeface="Calibri"/>
              </a:rPr>
              <a:t>Babler</a:t>
            </a:r>
            <a:r>
              <a:rPr lang="pt-BR" sz="1300" b="0" i="0" noProof="0" dirty="0">
                <a:solidFill>
                  <a:srgbClr val="CCCCCC"/>
                </a:solidFill>
                <a:latin typeface="Calibri"/>
              </a:rPr>
              <a:t>  ·  Matheus Freitas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375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b="0" i="0" noProof="0" dirty="0">
                <a:solidFill>
                  <a:srgbClr val="888888"/>
                </a:solidFill>
                <a:latin typeface="Calibri"/>
              </a:rPr>
              <a:t>Centro Universitário FEI  ·  Engenharia de Software  ·  CC7540  ·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3749039"/>
            <a:ext cx="4572000" cy="457200"/>
          </a:xfrm>
          <a:prstGeom prst="rect">
            <a:avLst/>
          </a:prstGeom>
          <a:solidFill>
            <a:srgbClr val="2E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2286000" y="379476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b="0" i="0" noProof="0" dirty="0">
                <a:solidFill>
                  <a:srgbClr val="FFFFFF"/>
                </a:solidFill>
                <a:latin typeface="Calibri"/>
              </a:rPr>
              <a:t>Link:  github.com/</a:t>
            </a:r>
            <a:r>
              <a:rPr lang="pt-BR" sz="1200" b="0" i="0" noProof="0" dirty="0" err="1">
                <a:solidFill>
                  <a:srgbClr val="FFFFFF"/>
                </a:solidFill>
                <a:latin typeface="Calibri"/>
              </a:rPr>
              <a:t>FreitasFMatheus</a:t>
            </a:r>
            <a:r>
              <a:rPr lang="pt-BR" sz="1200" b="0" i="0" noProof="0" dirty="0">
                <a:solidFill>
                  <a:srgbClr val="FFFFFF"/>
                </a:solidFill>
                <a:latin typeface="Calibri"/>
              </a:rPr>
              <a:t>/Projeto-I-</a:t>
            </a:r>
            <a:r>
              <a:rPr lang="pt-BR" sz="1200" b="0" i="0" noProof="0" dirty="0" err="1">
                <a:solidFill>
                  <a:srgbClr val="FFFFFF"/>
                </a:solidFill>
                <a:latin typeface="Calibri"/>
              </a:rPr>
              <a:t>Deal</a:t>
            </a:r>
            <a:endParaRPr lang="pt-BR" sz="1200" b="0" i="0" noProof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2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274320" y="4910328"/>
            <a:ext cx="8595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900" b="0" i="0" noProof="0" dirty="0">
                <a:solidFill>
                  <a:srgbClr val="888888"/>
                </a:solidFill>
                <a:latin typeface="Calibri"/>
              </a:rPr>
              <a:t>Março 2026  ·  Disciplina: Laboratório de Engenharia de Software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486</TotalTime>
  <Words>1809</Words>
  <Application>Microsoft Office PowerPoint</Application>
  <PresentationFormat>Apresentação na tela (16:9)</PresentationFormat>
  <Paragraphs>343</Paragraphs>
  <Slides>14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9" baseType="lpstr">
      <vt:lpstr>Aptos</vt:lpstr>
      <vt:lpstr>Arial</vt:lpstr>
      <vt:lpstr>Calibri</vt:lpstr>
      <vt:lpstr>Georgia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MATHEUS FERREIRA DE FREITAS</cp:lastModifiedBy>
  <cp:revision>5</cp:revision>
  <dcterms:created xsi:type="dcterms:W3CDTF">2013-01-27T09:14:16Z</dcterms:created>
  <dcterms:modified xsi:type="dcterms:W3CDTF">2026-03-21T13:56:54Z</dcterms:modified>
  <cp:category/>
</cp:coreProperties>
</file>